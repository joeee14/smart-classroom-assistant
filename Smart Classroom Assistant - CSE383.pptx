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y="6858000" cx="12192000"/>
  <p:notesSz cx="6858000" cy="9144000"/>
  <p:embeddedFontLst>
    <p:embeddedFont>
      <p:font typeface="Lato"/>
      <p:regular r:id="rId17"/>
      <p:bold r:id="rId18"/>
      <p:italic r:id="rId19"/>
      <p:boldItalic r:id="rId20"/>
    </p:embeddedFont>
    <p:embeddedFont>
      <p:font typeface="Poppins"/>
      <p:regular r:id="rId21"/>
      <p:bold r:id="rId22"/>
      <p:italic r:id="rId23"/>
      <p:boldItalic r:id="rId24"/>
    </p:embeddedFont>
    <p:embeddedFont>
      <p:font typeface="Lato Light"/>
      <p:regular r:id="rId25"/>
      <p:bold r:id="rId26"/>
      <p:italic r:id="rId27"/>
      <p:boldItalic r:id="rId2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Lato-boldItalic.fntdata"/><Relationship Id="rId22" Type="http://schemas.openxmlformats.org/officeDocument/2006/relationships/font" Target="fonts/Poppins-bold.fntdata"/><Relationship Id="rId21" Type="http://schemas.openxmlformats.org/officeDocument/2006/relationships/font" Target="fonts/Poppins-regular.fntdata"/><Relationship Id="rId24" Type="http://schemas.openxmlformats.org/officeDocument/2006/relationships/font" Target="fonts/Poppins-boldItalic.fntdata"/><Relationship Id="rId23" Type="http://schemas.openxmlformats.org/officeDocument/2006/relationships/font" Target="fonts/Poppins-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LatoLight-bold.fntdata"/><Relationship Id="rId25" Type="http://schemas.openxmlformats.org/officeDocument/2006/relationships/font" Target="fonts/LatoLight-regular.fntdata"/><Relationship Id="rId28" Type="http://schemas.openxmlformats.org/officeDocument/2006/relationships/font" Target="fonts/LatoLight-boldItalic.fntdata"/><Relationship Id="rId27" Type="http://schemas.openxmlformats.org/officeDocument/2006/relationships/font" Target="fonts/LatoLight-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Lato-regular.fntdata"/><Relationship Id="rId16" Type="http://schemas.openxmlformats.org/officeDocument/2006/relationships/slide" Target="slides/slide11.xml"/><Relationship Id="rId19" Type="http://schemas.openxmlformats.org/officeDocument/2006/relationships/font" Target="fonts/Lato-italic.fntdata"/><Relationship Id="rId18" Type="http://schemas.openxmlformats.org/officeDocument/2006/relationships/font" Target="fonts/Lato-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7.png"/><Relationship Id="rId4" Type="http://schemas.openxmlformats.org/officeDocument/2006/relationships/image" Target="../media/image4.png"/><Relationship Id="rId5"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1.png"/><Relationship Id="rId5" Type="http://schemas.openxmlformats.org/officeDocument/2006/relationships/image" Target="../media/image36.png"/><Relationship Id="rId6" Type="http://schemas.openxmlformats.org/officeDocument/2006/relationships/image" Target="../media/image13.png"/><Relationship Id="rId7" Type="http://schemas.openxmlformats.org/officeDocument/2006/relationships/image" Target="../media/image10.png"/><Relationship Id="rId8" Type="http://schemas.openxmlformats.org/officeDocument/2006/relationships/image" Target="../media/image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14.png"/><Relationship Id="rId11" Type="http://schemas.openxmlformats.org/officeDocument/2006/relationships/image" Target="../media/image18.png"/><Relationship Id="rId10" Type="http://schemas.openxmlformats.org/officeDocument/2006/relationships/image" Target="../media/image12.png"/><Relationship Id="rId9" Type="http://schemas.openxmlformats.org/officeDocument/2006/relationships/image" Target="../media/image3.png"/><Relationship Id="rId5" Type="http://schemas.openxmlformats.org/officeDocument/2006/relationships/image" Target="../media/image5.png"/><Relationship Id="rId6" Type="http://schemas.openxmlformats.org/officeDocument/2006/relationships/image" Target="../media/image24.png"/><Relationship Id="rId7" Type="http://schemas.openxmlformats.org/officeDocument/2006/relationships/image" Target="../media/image16.png"/><Relationship Id="rId8" Type="http://schemas.openxmlformats.org/officeDocument/2006/relationships/image" Target="../media/image1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6.png"/><Relationship Id="rId5" Type="http://schemas.openxmlformats.org/officeDocument/2006/relationships/image" Target="../media/image23.png"/><Relationship Id="rId6" Type="http://schemas.openxmlformats.org/officeDocument/2006/relationships/image" Target="../media/image47.jpg"/><Relationship Id="rId7" Type="http://schemas.openxmlformats.org/officeDocument/2006/relationships/image" Target="../media/image25.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image" Target="../media/image6.png"/><Relationship Id="rId5" Type="http://schemas.openxmlformats.org/officeDocument/2006/relationships/image" Target="../media/image11.png"/><Relationship Id="rId6"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png"/><Relationship Id="rId4" Type="http://schemas.openxmlformats.org/officeDocument/2006/relationships/image" Target="../media/image19.png"/><Relationship Id="rId10" Type="http://schemas.openxmlformats.org/officeDocument/2006/relationships/image" Target="../media/image40.jpg"/><Relationship Id="rId9" Type="http://schemas.openxmlformats.org/officeDocument/2006/relationships/image" Target="../media/image48.jpg"/><Relationship Id="rId5" Type="http://schemas.openxmlformats.org/officeDocument/2006/relationships/image" Target="../media/image20.png"/><Relationship Id="rId6" Type="http://schemas.openxmlformats.org/officeDocument/2006/relationships/image" Target="../media/image17.png"/><Relationship Id="rId7" Type="http://schemas.openxmlformats.org/officeDocument/2006/relationships/image" Target="../media/image29.png"/><Relationship Id="rId8" Type="http://schemas.openxmlformats.org/officeDocument/2006/relationships/image" Target="../media/image2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png"/><Relationship Id="rId4" Type="http://schemas.openxmlformats.org/officeDocument/2006/relationships/image" Target="../media/image21.png"/><Relationship Id="rId10" Type="http://schemas.openxmlformats.org/officeDocument/2006/relationships/image" Target="../media/image30.png"/><Relationship Id="rId9" Type="http://schemas.openxmlformats.org/officeDocument/2006/relationships/image" Target="../media/image33.png"/><Relationship Id="rId5" Type="http://schemas.openxmlformats.org/officeDocument/2006/relationships/image" Target="../media/image32.png"/><Relationship Id="rId6" Type="http://schemas.openxmlformats.org/officeDocument/2006/relationships/image" Target="../media/image26.png"/><Relationship Id="rId7" Type="http://schemas.openxmlformats.org/officeDocument/2006/relationships/image" Target="../media/image28.png"/><Relationship Id="rId8" Type="http://schemas.openxmlformats.org/officeDocument/2006/relationships/image" Target="../media/image2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png"/><Relationship Id="rId4" Type="http://schemas.openxmlformats.org/officeDocument/2006/relationships/image" Target="../media/image38.png"/><Relationship Id="rId5" Type="http://schemas.openxmlformats.org/officeDocument/2006/relationships/image" Target="../media/image39.png"/><Relationship Id="rId6" Type="http://schemas.openxmlformats.org/officeDocument/2006/relationships/image" Target="../media/image49.jpg"/><Relationship Id="rId7" Type="http://schemas.openxmlformats.org/officeDocument/2006/relationships/image" Target="../media/image50.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png"/><Relationship Id="rId4" Type="http://schemas.openxmlformats.org/officeDocument/2006/relationships/image" Target="../media/image31.png"/><Relationship Id="rId5" Type="http://schemas.openxmlformats.org/officeDocument/2006/relationships/image" Target="../media/image42.png"/><Relationship Id="rId6" Type="http://schemas.openxmlformats.org/officeDocument/2006/relationships/image" Target="../media/image37.png"/><Relationship Id="rId7" Type="http://schemas.openxmlformats.org/officeDocument/2006/relationships/image" Target="../media/image3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png"/><Relationship Id="rId4" Type="http://schemas.openxmlformats.org/officeDocument/2006/relationships/image" Target="../media/image41.png"/><Relationship Id="rId5" Type="http://schemas.openxmlformats.org/officeDocument/2006/relationships/image" Target="../media/image34.png"/><Relationship Id="rId6" Type="http://schemas.openxmlformats.org/officeDocument/2006/relationships/image" Target="../media/image43.png"/><Relationship Id="rId7" Type="http://schemas.openxmlformats.org/officeDocument/2006/relationships/image" Target="../media/image45.png"/><Relationship Id="rId8" Type="http://schemas.openxmlformats.org/officeDocument/2006/relationships/image" Target="../media/image4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4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1529"/>
        </a:solidFill>
      </p:bgPr>
    </p:bg>
    <p:spTree>
      <p:nvGrpSpPr>
        <p:cNvPr id="83" name="Shape 83"/>
        <p:cNvGrpSpPr/>
        <p:nvPr/>
      </p:nvGrpSpPr>
      <p:grpSpPr>
        <a:xfrm>
          <a:off x="0" y="0"/>
          <a:ext cx="0" cy="0"/>
          <a:chOff x="0" y="0"/>
          <a:chExt cx="0" cy="0"/>
        </a:xfrm>
      </p:grpSpPr>
      <p:pic>
        <p:nvPicPr>
          <p:cNvPr descr="image.png" id="84" name="Google Shape;84;p13"/>
          <p:cNvPicPr preferRelativeResize="0"/>
          <p:nvPr/>
        </p:nvPicPr>
        <p:blipFill rotWithShape="1">
          <a:blip r:embed="rId3">
            <a:alphaModFix/>
          </a:blip>
          <a:srcRect b="0" l="0" r="0" t="0"/>
          <a:stretch/>
        </p:blipFill>
        <p:spPr>
          <a:xfrm>
            <a:off x="8382000" y="-1905000"/>
            <a:ext cx="5715000" cy="5715000"/>
          </a:xfrm>
          <a:prstGeom prst="rect">
            <a:avLst/>
          </a:prstGeom>
          <a:noFill/>
          <a:ln>
            <a:noFill/>
          </a:ln>
        </p:spPr>
      </p:pic>
      <p:pic>
        <p:nvPicPr>
          <p:cNvPr descr="image.png" id="85" name="Google Shape;85;p13"/>
          <p:cNvPicPr preferRelativeResize="0"/>
          <p:nvPr/>
        </p:nvPicPr>
        <p:blipFill rotWithShape="1">
          <a:blip r:embed="rId4">
            <a:alphaModFix/>
          </a:blip>
          <a:srcRect b="0" l="0" r="0" t="0"/>
          <a:stretch/>
        </p:blipFill>
        <p:spPr>
          <a:xfrm>
            <a:off x="0" y="0"/>
            <a:ext cx="12192000" cy="6858000"/>
          </a:xfrm>
          <a:prstGeom prst="rect">
            <a:avLst/>
          </a:prstGeom>
          <a:noFill/>
          <a:ln>
            <a:noFill/>
          </a:ln>
        </p:spPr>
      </p:pic>
      <p:pic>
        <p:nvPicPr>
          <p:cNvPr descr="image.png" id="86" name="Google Shape;86;p13"/>
          <p:cNvPicPr preferRelativeResize="0"/>
          <p:nvPr/>
        </p:nvPicPr>
        <p:blipFill rotWithShape="1">
          <a:blip r:embed="rId5">
            <a:alphaModFix/>
          </a:blip>
          <a:srcRect b="0" l="0" r="0" t="0"/>
          <a:stretch/>
        </p:blipFill>
        <p:spPr>
          <a:xfrm>
            <a:off x="0" y="6381750"/>
            <a:ext cx="12192000" cy="476250"/>
          </a:xfrm>
          <a:prstGeom prst="rect">
            <a:avLst/>
          </a:prstGeom>
          <a:noFill/>
          <a:ln>
            <a:noFill/>
          </a:ln>
        </p:spPr>
      </p:pic>
      <p:sp>
        <p:nvSpPr>
          <p:cNvPr id="87" name="Google Shape;87;p13"/>
          <p:cNvSpPr txBox="1"/>
          <p:nvPr/>
        </p:nvSpPr>
        <p:spPr>
          <a:xfrm>
            <a:off x="381000" y="6543675"/>
            <a:ext cx="1390650" cy="1619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50" u="none" cap="none" strike="noStrike">
                <a:solidFill>
                  <a:srgbClr val="94A3B8"/>
                </a:solidFill>
                <a:latin typeface="Lato"/>
                <a:ea typeface="Lato"/>
                <a:cs typeface="Lato"/>
                <a:sym typeface="Lato"/>
              </a:rPr>
              <a:t>ALAMEIN UNIVERSITY</a:t>
            </a:r>
            <a:endParaRPr/>
          </a:p>
        </p:txBody>
      </p:sp>
      <p:sp>
        <p:nvSpPr>
          <p:cNvPr id="88" name="Google Shape;88;p13"/>
          <p:cNvSpPr txBox="1"/>
          <p:nvPr/>
        </p:nvSpPr>
        <p:spPr>
          <a:xfrm>
            <a:off x="11344275" y="6543675"/>
            <a:ext cx="466725" cy="1619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50" u="none" cap="none" strike="noStrike">
                <a:solidFill>
                  <a:srgbClr val="94A3B8"/>
                </a:solidFill>
                <a:latin typeface="Lato"/>
                <a:ea typeface="Lato"/>
                <a:cs typeface="Lato"/>
                <a:sym typeface="Lato"/>
              </a:rPr>
              <a:t>CSE383</a:t>
            </a:r>
            <a:endParaRPr/>
          </a:p>
        </p:txBody>
      </p:sp>
      <p:sp>
        <p:nvSpPr>
          <p:cNvPr id="89" name="Google Shape;89;p13"/>
          <p:cNvSpPr txBox="1"/>
          <p:nvPr/>
        </p:nvSpPr>
        <p:spPr>
          <a:xfrm>
            <a:off x="1595437" y="681037"/>
            <a:ext cx="9001200" cy="193950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1" i="0" lang="en-US" sz="6000" u="none" cap="none" strike="noStrike">
                <a:solidFill>
                  <a:srgbClr val="00E5FF"/>
                </a:solidFill>
                <a:latin typeface="Poppins"/>
                <a:ea typeface="Poppins"/>
                <a:cs typeface="Poppins"/>
                <a:sym typeface="Poppins"/>
              </a:rPr>
              <a:t>Smart Classroom Assistant</a:t>
            </a:r>
            <a:endParaRPr>
              <a:solidFill>
                <a:srgbClr val="00E5FF"/>
              </a:solidFill>
            </a:endParaRPr>
          </a:p>
        </p:txBody>
      </p:sp>
      <p:sp>
        <p:nvSpPr>
          <p:cNvPr id="90" name="Google Shape;90;p13"/>
          <p:cNvSpPr txBox="1"/>
          <p:nvPr/>
        </p:nvSpPr>
        <p:spPr>
          <a:xfrm>
            <a:off x="1809750" y="2812837"/>
            <a:ext cx="8572500" cy="323100"/>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None/>
            </a:pPr>
            <a:r>
              <a:rPr b="0" i="0" lang="en-US" sz="2100" u="none" cap="none" strike="noStrike">
                <a:solidFill>
                  <a:srgbClr val="E2E8F0"/>
                </a:solidFill>
                <a:latin typeface="Lato Light"/>
                <a:ea typeface="Lato Light"/>
                <a:cs typeface="Lato Light"/>
                <a:sym typeface="Lato Light"/>
              </a:rPr>
              <a:t>Computer Vision Course — CSE383 </a:t>
            </a:r>
            <a:endParaRPr/>
          </a:p>
        </p:txBody>
      </p:sp>
      <p:sp>
        <p:nvSpPr>
          <p:cNvPr id="91" name="Google Shape;91;p13"/>
          <p:cNvSpPr txBox="1"/>
          <p:nvPr/>
        </p:nvSpPr>
        <p:spPr>
          <a:xfrm>
            <a:off x="1809750" y="3405187"/>
            <a:ext cx="8572500" cy="277200"/>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None/>
            </a:pPr>
            <a:r>
              <a:rPr b="0" i="1" lang="en-US" sz="1800" u="none" cap="none" strike="noStrike">
                <a:solidFill>
                  <a:srgbClr val="00E5FF"/>
                </a:solidFill>
                <a:latin typeface="Lato"/>
                <a:ea typeface="Lato"/>
                <a:cs typeface="Lato"/>
                <a:sym typeface="Lato"/>
              </a:rPr>
              <a:t>Automating Attendance, Mood Analysis &amp; Question Classification using AI</a:t>
            </a:r>
            <a:endParaRPr/>
          </a:p>
        </p:txBody>
      </p:sp>
      <p:sp>
        <p:nvSpPr>
          <p:cNvPr id="92" name="Google Shape;92;p13"/>
          <p:cNvSpPr txBox="1"/>
          <p:nvPr/>
        </p:nvSpPr>
        <p:spPr>
          <a:xfrm>
            <a:off x="1920150" y="5938537"/>
            <a:ext cx="8572500" cy="254100"/>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None/>
            </a:pPr>
            <a:r>
              <a:rPr b="1" i="0" lang="en-US" sz="1650" u="none" cap="none" strike="noStrike">
                <a:solidFill>
                  <a:srgbClr val="E2E8F0"/>
                </a:solidFill>
                <a:latin typeface="Lato"/>
                <a:ea typeface="Lato"/>
                <a:cs typeface="Lato"/>
                <a:sym typeface="Lato"/>
              </a:rPr>
              <a:t>ALAMEIN INTERNATIONAL UNIVERSITY</a:t>
            </a:r>
            <a:endParaRPr/>
          </a:p>
        </p:txBody>
      </p:sp>
      <p:sp>
        <p:nvSpPr>
          <p:cNvPr id="93" name="Google Shape;93;p13"/>
          <p:cNvSpPr txBox="1"/>
          <p:nvPr/>
        </p:nvSpPr>
        <p:spPr>
          <a:xfrm>
            <a:off x="4595988" y="4500475"/>
            <a:ext cx="3000000" cy="4002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t/>
            </a:r>
            <a:endParaRPr>
              <a:solidFill>
                <a:schemeClr val="lt1"/>
              </a:solidFill>
            </a:endParaRPr>
          </a:p>
        </p:txBody>
      </p:sp>
      <p:sp>
        <p:nvSpPr>
          <p:cNvPr id="94" name="Google Shape;94;p13"/>
          <p:cNvSpPr txBox="1"/>
          <p:nvPr/>
        </p:nvSpPr>
        <p:spPr>
          <a:xfrm>
            <a:off x="1581600" y="3861999"/>
            <a:ext cx="9249600" cy="1962600"/>
          </a:xfrm>
          <a:prstGeom prst="rect">
            <a:avLst/>
          </a:prstGeom>
          <a:noFill/>
          <a:ln>
            <a:noFill/>
          </a:ln>
        </p:spPr>
        <p:txBody>
          <a:bodyPr anchorCtr="0" anchor="t" bIns="91425" lIns="91425" spcFirstLastPara="1" rIns="91425" wrap="square" tIns="91425">
            <a:spAutoFit/>
          </a:bodyPr>
          <a:lstStyle/>
          <a:p>
            <a:pPr indent="0" lvl="0" marL="0" rtl="0" algn="ctr">
              <a:lnSpc>
                <a:spcPct val="150000"/>
              </a:lnSpc>
              <a:spcBef>
                <a:spcPts val="0"/>
              </a:spcBef>
              <a:spcAft>
                <a:spcPts val="0"/>
              </a:spcAft>
              <a:buNone/>
            </a:pPr>
            <a:r>
              <a:rPr lang="en-US" sz="2100">
                <a:solidFill>
                  <a:srgbClr val="E2E8F0"/>
                </a:solidFill>
                <a:latin typeface="Lato Light"/>
                <a:ea typeface="Lato Light"/>
                <a:cs typeface="Lato Light"/>
                <a:sym typeface="Lato Light"/>
              </a:rPr>
              <a:t>Youssef Mohamed - 22100512                    </a:t>
            </a:r>
            <a:r>
              <a:rPr lang="en-US" sz="2100">
                <a:solidFill>
                  <a:srgbClr val="E2E8F0"/>
                </a:solidFill>
                <a:latin typeface="Lato Light"/>
                <a:ea typeface="Lato Light"/>
                <a:cs typeface="Lato Light"/>
                <a:sym typeface="Lato Light"/>
              </a:rPr>
              <a:t>Omar Osama - 22101414</a:t>
            </a:r>
            <a:endParaRPr sz="2100">
              <a:solidFill>
                <a:srgbClr val="E2E8F0"/>
              </a:solidFill>
              <a:latin typeface="Lato Light"/>
              <a:ea typeface="Lato Light"/>
              <a:cs typeface="Lato Light"/>
              <a:sym typeface="Lato Light"/>
            </a:endParaRPr>
          </a:p>
          <a:p>
            <a:pPr indent="0" lvl="0" marL="0" rtl="0" algn="ctr">
              <a:lnSpc>
                <a:spcPct val="150000"/>
              </a:lnSpc>
              <a:spcBef>
                <a:spcPts val="0"/>
              </a:spcBef>
              <a:spcAft>
                <a:spcPts val="0"/>
              </a:spcAft>
              <a:buNone/>
            </a:pPr>
            <a:r>
              <a:t/>
            </a:r>
            <a:endParaRPr sz="2100">
              <a:solidFill>
                <a:srgbClr val="E2E8F0"/>
              </a:solidFill>
              <a:latin typeface="Lato Light"/>
              <a:ea typeface="Lato Light"/>
              <a:cs typeface="Lato Light"/>
              <a:sym typeface="Lato Light"/>
            </a:endParaRPr>
          </a:p>
          <a:p>
            <a:pPr indent="0" lvl="0" marL="0" rtl="0" algn="ctr">
              <a:lnSpc>
                <a:spcPct val="150000"/>
              </a:lnSpc>
              <a:spcBef>
                <a:spcPts val="0"/>
              </a:spcBef>
              <a:spcAft>
                <a:spcPts val="0"/>
              </a:spcAft>
              <a:buNone/>
            </a:pPr>
            <a:r>
              <a:rPr lang="en-US" sz="2100">
                <a:solidFill>
                  <a:srgbClr val="E2E8F0"/>
                </a:solidFill>
                <a:latin typeface="Lato Light"/>
                <a:ea typeface="Lato Light"/>
                <a:cs typeface="Lato Light"/>
                <a:sym typeface="Lato Light"/>
              </a:rPr>
              <a:t>Ahmed Yasser - 22100397                     </a:t>
            </a:r>
            <a:r>
              <a:rPr lang="en-US" sz="2100">
                <a:solidFill>
                  <a:srgbClr val="E2E8F0"/>
                </a:solidFill>
                <a:latin typeface="Lato Light"/>
                <a:ea typeface="Lato Light"/>
                <a:cs typeface="Lato Light"/>
                <a:sym typeface="Lato Light"/>
              </a:rPr>
              <a:t>Mariam Mahmoud - 22100808</a:t>
            </a:r>
            <a:endParaRPr sz="2100">
              <a:solidFill>
                <a:srgbClr val="E2E8F0"/>
              </a:solidFill>
              <a:latin typeface="Lato Light"/>
              <a:ea typeface="Lato Light"/>
              <a:cs typeface="Lato Light"/>
              <a:sym typeface="Lato Light"/>
            </a:endParaRPr>
          </a:p>
          <a:p>
            <a:pPr indent="0" lvl="0" marL="0" rtl="0" algn="ctr">
              <a:lnSpc>
                <a:spcPct val="150000"/>
              </a:lnSpc>
              <a:spcBef>
                <a:spcPts val="0"/>
              </a:spcBef>
              <a:spcAft>
                <a:spcPts val="0"/>
              </a:spcAft>
              <a:buNone/>
            </a:pPr>
            <a:r>
              <a:t/>
            </a:r>
            <a:endParaRPr sz="2100">
              <a:solidFill>
                <a:srgbClr val="E2E8F0"/>
              </a:solidFill>
              <a:latin typeface="Lato Light"/>
              <a:ea typeface="Lato Light"/>
              <a:cs typeface="Lato Light"/>
              <a:sym typeface="Lato Light"/>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1529"/>
        </a:solidFill>
      </p:bgPr>
    </p:bg>
    <p:spTree>
      <p:nvGrpSpPr>
        <p:cNvPr id="98" name="Shape 98"/>
        <p:cNvGrpSpPr/>
        <p:nvPr/>
      </p:nvGrpSpPr>
      <p:grpSpPr>
        <a:xfrm>
          <a:off x="0" y="0"/>
          <a:ext cx="0" cy="0"/>
          <a:chOff x="0" y="0"/>
          <a:chExt cx="0" cy="0"/>
        </a:xfrm>
      </p:grpSpPr>
      <p:pic>
        <p:nvPicPr>
          <p:cNvPr descr="image.png" id="99" name="Google Shape;99;p14"/>
          <p:cNvPicPr preferRelativeResize="0"/>
          <p:nvPr/>
        </p:nvPicPr>
        <p:blipFill rotWithShape="1">
          <a:blip r:embed="rId3">
            <a:alphaModFix/>
          </a:blip>
          <a:srcRect b="0" l="0" r="0" t="0"/>
          <a:stretch/>
        </p:blipFill>
        <p:spPr>
          <a:xfrm>
            <a:off x="0" y="6381750"/>
            <a:ext cx="12192000" cy="476250"/>
          </a:xfrm>
          <a:prstGeom prst="rect">
            <a:avLst/>
          </a:prstGeom>
          <a:noFill/>
          <a:ln>
            <a:noFill/>
          </a:ln>
        </p:spPr>
      </p:pic>
      <p:pic>
        <p:nvPicPr>
          <p:cNvPr descr="image.png" id="100" name="Google Shape;100;p14"/>
          <p:cNvPicPr preferRelativeResize="0"/>
          <p:nvPr/>
        </p:nvPicPr>
        <p:blipFill rotWithShape="1">
          <a:blip r:embed="rId4">
            <a:alphaModFix/>
          </a:blip>
          <a:srcRect b="0" l="0" r="0" t="0"/>
          <a:stretch/>
        </p:blipFill>
        <p:spPr>
          <a:xfrm>
            <a:off x="0" y="0"/>
            <a:ext cx="12192000" cy="428625"/>
          </a:xfrm>
          <a:prstGeom prst="rect">
            <a:avLst/>
          </a:prstGeom>
          <a:noFill/>
          <a:ln>
            <a:noFill/>
          </a:ln>
        </p:spPr>
      </p:pic>
      <p:sp>
        <p:nvSpPr>
          <p:cNvPr id="101" name="Google Shape;101;p14"/>
          <p:cNvSpPr txBox="1"/>
          <p:nvPr/>
        </p:nvSpPr>
        <p:spPr>
          <a:xfrm>
            <a:off x="571500" y="809625"/>
            <a:ext cx="11601450" cy="685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u="none" cap="none" strike="noStrike">
                <a:solidFill>
                  <a:srgbClr val="FFFFFF"/>
                </a:solidFill>
                <a:latin typeface="Poppins"/>
                <a:ea typeface="Poppins"/>
                <a:cs typeface="Poppins"/>
                <a:sym typeface="Poppins"/>
              </a:rPr>
              <a:t>What is the </a:t>
            </a:r>
            <a:r>
              <a:rPr b="1" i="0" lang="en-US" sz="3600" u="none" cap="none" strike="noStrike">
                <a:solidFill>
                  <a:srgbClr val="00E5FF"/>
                </a:solidFill>
                <a:latin typeface="Poppins"/>
                <a:ea typeface="Poppins"/>
                <a:cs typeface="Poppins"/>
                <a:sym typeface="Poppins"/>
              </a:rPr>
              <a:t>Smart Classroom Assistant?</a:t>
            </a:r>
            <a:endParaRPr/>
          </a:p>
        </p:txBody>
      </p:sp>
      <p:sp>
        <p:nvSpPr>
          <p:cNvPr id="102" name="Google Shape;102;p14"/>
          <p:cNvSpPr txBox="1"/>
          <p:nvPr/>
        </p:nvSpPr>
        <p:spPr>
          <a:xfrm>
            <a:off x="571500" y="1990725"/>
            <a:ext cx="8572500" cy="12573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650" u="none" cap="none" strike="noStrike">
                <a:solidFill>
                  <a:srgbClr val="E2E8F0"/>
                </a:solidFill>
                <a:latin typeface="Lato"/>
                <a:ea typeface="Lato"/>
                <a:cs typeface="Lato"/>
                <a:sym typeface="Lato"/>
              </a:rPr>
              <a:t>The Smart Classroom Assistant is an AI-powered educational tool designed to streamline classroom management. By integrating Computer Vision, Speech Recognition, and NLP, the system automates routine tasks, allowing instructors to focus on teaching. It detects student presence, monitors engagement levels, and captures academic inquiries in real-time.</a:t>
            </a:r>
            <a:endParaRPr/>
          </a:p>
        </p:txBody>
      </p:sp>
      <p:sp>
        <p:nvSpPr>
          <p:cNvPr id="103" name="Google Shape;103;p14"/>
          <p:cNvSpPr txBox="1"/>
          <p:nvPr/>
        </p:nvSpPr>
        <p:spPr>
          <a:xfrm>
            <a:off x="571500" y="5619750"/>
            <a:ext cx="11049000" cy="285750"/>
          </a:xfrm>
          <a:prstGeom prst="rect">
            <a:avLst/>
          </a:prstGeom>
          <a:noFill/>
          <a:ln>
            <a:noFill/>
          </a:ln>
        </p:spPr>
        <p:txBody>
          <a:bodyPr anchorCtr="0" anchor="t" bIns="0" lIns="285750" spcFirstLastPara="1" rIns="0" wrap="square" tIns="0">
            <a:spAutoFit/>
          </a:bodyPr>
          <a:lstStyle/>
          <a:p>
            <a:pPr indent="0" lvl="0" marL="0" marR="0" rtl="0" algn="ctr">
              <a:lnSpc>
                <a:spcPct val="150000"/>
              </a:lnSpc>
              <a:spcBef>
                <a:spcPts val="0"/>
              </a:spcBef>
              <a:spcAft>
                <a:spcPts val="0"/>
              </a:spcAft>
              <a:buNone/>
            </a:pPr>
            <a:r>
              <a:rPr b="0" i="0" lang="en-US" sz="1500" u="none" cap="none" strike="noStrike">
                <a:solidFill>
                  <a:srgbClr val="00E5FF"/>
                </a:solidFill>
                <a:latin typeface="Lato"/>
                <a:ea typeface="Lato"/>
                <a:cs typeface="Lato"/>
                <a:sym typeface="Lato"/>
              </a:rPr>
              <a:t>Outputs generated as structured CSV logs for administrative review.</a:t>
            </a:r>
            <a:endParaRPr/>
          </a:p>
        </p:txBody>
      </p:sp>
      <p:sp>
        <p:nvSpPr>
          <p:cNvPr id="104" name="Google Shape;104;p14"/>
          <p:cNvSpPr txBox="1"/>
          <p:nvPr/>
        </p:nvSpPr>
        <p:spPr>
          <a:xfrm>
            <a:off x="381000" y="6543675"/>
            <a:ext cx="1333500" cy="1619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50" u="none" cap="none" strike="noStrike">
                <a:solidFill>
                  <a:srgbClr val="94A3B8"/>
                </a:solidFill>
                <a:latin typeface="Lato"/>
                <a:ea typeface="Lato"/>
                <a:cs typeface="Lato"/>
                <a:sym typeface="Lato"/>
              </a:rPr>
              <a:t>CSE383 - Final Project</a:t>
            </a:r>
            <a:endParaRPr/>
          </a:p>
        </p:txBody>
      </p:sp>
      <p:sp>
        <p:nvSpPr>
          <p:cNvPr id="105" name="Google Shape;105;p14"/>
          <p:cNvSpPr txBox="1"/>
          <p:nvPr/>
        </p:nvSpPr>
        <p:spPr>
          <a:xfrm>
            <a:off x="11344275" y="6543675"/>
            <a:ext cx="466725" cy="1619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50" u="none" cap="none" strike="noStrike">
                <a:solidFill>
                  <a:srgbClr val="94A3B8"/>
                </a:solidFill>
                <a:latin typeface="Lato"/>
                <a:ea typeface="Lato"/>
                <a:cs typeface="Lato"/>
                <a:sym typeface="Lato"/>
              </a:rPr>
              <a:t>Slide 02</a:t>
            </a:r>
            <a:endParaRPr/>
          </a:p>
        </p:txBody>
      </p:sp>
      <p:pic>
        <p:nvPicPr>
          <p:cNvPr descr="image.png" id="106" name="Google Shape;106;p14"/>
          <p:cNvPicPr preferRelativeResize="0"/>
          <p:nvPr/>
        </p:nvPicPr>
        <p:blipFill rotWithShape="1">
          <a:blip r:embed="rId5">
            <a:alphaModFix/>
          </a:blip>
          <a:srcRect b="0" l="0" r="0" t="0"/>
          <a:stretch/>
        </p:blipFill>
        <p:spPr>
          <a:xfrm>
            <a:off x="3143250" y="5676900"/>
            <a:ext cx="190500" cy="190500"/>
          </a:xfrm>
          <a:prstGeom prst="rect">
            <a:avLst/>
          </a:prstGeom>
          <a:noFill/>
          <a:ln>
            <a:noFill/>
          </a:ln>
        </p:spPr>
      </p:pic>
      <p:pic>
        <p:nvPicPr>
          <p:cNvPr descr="image.png" id="107" name="Google Shape;107;p14"/>
          <p:cNvPicPr preferRelativeResize="0"/>
          <p:nvPr/>
        </p:nvPicPr>
        <p:blipFill rotWithShape="1">
          <a:blip r:embed="rId6">
            <a:alphaModFix/>
          </a:blip>
          <a:srcRect b="0" l="0" r="0" t="0"/>
          <a:stretch/>
        </p:blipFill>
        <p:spPr>
          <a:xfrm>
            <a:off x="2100262" y="4105275"/>
            <a:ext cx="647700" cy="571500"/>
          </a:xfrm>
          <a:prstGeom prst="rect">
            <a:avLst/>
          </a:prstGeom>
          <a:noFill/>
          <a:ln>
            <a:noFill/>
          </a:ln>
        </p:spPr>
      </p:pic>
      <p:sp>
        <p:nvSpPr>
          <p:cNvPr id="108" name="Google Shape;108;p14"/>
          <p:cNvSpPr txBox="1"/>
          <p:nvPr/>
        </p:nvSpPr>
        <p:spPr>
          <a:xfrm>
            <a:off x="1679019" y="4819650"/>
            <a:ext cx="1490186" cy="2286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500" u="none" cap="none" strike="noStrike">
                <a:solidFill>
                  <a:srgbClr val="FFFFFF"/>
                </a:solidFill>
                <a:latin typeface="Lato"/>
                <a:ea typeface="Lato"/>
                <a:cs typeface="Lato"/>
                <a:sym typeface="Lato"/>
              </a:rPr>
              <a:t>Computer Vision</a:t>
            </a:r>
            <a:endParaRPr/>
          </a:p>
        </p:txBody>
      </p:sp>
      <p:pic>
        <p:nvPicPr>
          <p:cNvPr descr="image.png" id="109" name="Google Shape;109;p14"/>
          <p:cNvPicPr preferRelativeResize="0"/>
          <p:nvPr/>
        </p:nvPicPr>
        <p:blipFill rotWithShape="1">
          <a:blip r:embed="rId7">
            <a:alphaModFix/>
          </a:blip>
          <a:srcRect b="0" l="0" r="0" t="0"/>
          <a:stretch/>
        </p:blipFill>
        <p:spPr>
          <a:xfrm>
            <a:off x="6038850" y="4105275"/>
            <a:ext cx="428625" cy="571500"/>
          </a:xfrm>
          <a:prstGeom prst="rect">
            <a:avLst/>
          </a:prstGeom>
          <a:noFill/>
          <a:ln>
            <a:noFill/>
          </a:ln>
        </p:spPr>
      </p:pic>
      <p:sp>
        <p:nvSpPr>
          <p:cNvPr id="110" name="Google Shape;110;p14"/>
          <p:cNvSpPr txBox="1"/>
          <p:nvPr/>
        </p:nvSpPr>
        <p:spPr>
          <a:xfrm>
            <a:off x="5378053" y="4819650"/>
            <a:ext cx="1750218" cy="2286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500" u="none" cap="none" strike="noStrike">
                <a:solidFill>
                  <a:srgbClr val="FFFFFF"/>
                </a:solidFill>
                <a:latin typeface="Lato"/>
                <a:ea typeface="Lato"/>
                <a:cs typeface="Lato"/>
                <a:sym typeface="Lato"/>
              </a:rPr>
              <a:t>Speech Recognition</a:t>
            </a:r>
            <a:endParaRPr/>
          </a:p>
        </p:txBody>
      </p:sp>
      <p:pic>
        <p:nvPicPr>
          <p:cNvPr descr="image.png" id="111" name="Google Shape;111;p14"/>
          <p:cNvPicPr preferRelativeResize="0"/>
          <p:nvPr/>
        </p:nvPicPr>
        <p:blipFill rotWithShape="1">
          <a:blip r:embed="rId8">
            <a:alphaModFix/>
          </a:blip>
          <a:srcRect b="0" l="0" r="0" t="0"/>
          <a:stretch/>
        </p:blipFill>
        <p:spPr>
          <a:xfrm>
            <a:off x="9639300" y="4105275"/>
            <a:ext cx="571500" cy="571500"/>
          </a:xfrm>
          <a:prstGeom prst="rect">
            <a:avLst/>
          </a:prstGeom>
          <a:noFill/>
          <a:ln>
            <a:noFill/>
          </a:ln>
        </p:spPr>
      </p:pic>
      <p:sp>
        <p:nvSpPr>
          <p:cNvPr id="112" name="Google Shape;112;p14"/>
          <p:cNvSpPr txBox="1"/>
          <p:nvPr/>
        </p:nvSpPr>
        <p:spPr>
          <a:xfrm>
            <a:off x="9344977" y="4819650"/>
            <a:ext cx="1160145" cy="2286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500" u="none" cap="none" strike="noStrike">
                <a:solidFill>
                  <a:srgbClr val="FFFFFF"/>
                </a:solidFill>
                <a:latin typeface="Lato"/>
                <a:ea typeface="Lato"/>
                <a:cs typeface="Lato"/>
                <a:sym typeface="Lato"/>
              </a:rPr>
              <a:t>NLP Analysis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1529"/>
        </a:solidFill>
      </p:bgPr>
    </p:bg>
    <p:spTree>
      <p:nvGrpSpPr>
        <p:cNvPr id="116" name="Shape 116"/>
        <p:cNvGrpSpPr/>
        <p:nvPr/>
      </p:nvGrpSpPr>
      <p:grpSpPr>
        <a:xfrm>
          <a:off x="0" y="0"/>
          <a:ext cx="0" cy="0"/>
          <a:chOff x="0" y="0"/>
          <a:chExt cx="0" cy="0"/>
        </a:xfrm>
      </p:grpSpPr>
      <p:pic>
        <p:nvPicPr>
          <p:cNvPr descr="image.png" id="117" name="Google Shape;117;p15"/>
          <p:cNvPicPr preferRelativeResize="0"/>
          <p:nvPr/>
        </p:nvPicPr>
        <p:blipFill rotWithShape="1">
          <a:blip r:embed="rId3">
            <a:alphaModFix/>
          </a:blip>
          <a:srcRect b="0" l="0" r="0" t="0"/>
          <a:stretch/>
        </p:blipFill>
        <p:spPr>
          <a:xfrm>
            <a:off x="0" y="6381750"/>
            <a:ext cx="12192000" cy="476250"/>
          </a:xfrm>
          <a:prstGeom prst="rect">
            <a:avLst/>
          </a:prstGeom>
          <a:noFill/>
          <a:ln>
            <a:noFill/>
          </a:ln>
        </p:spPr>
      </p:pic>
      <p:pic>
        <p:nvPicPr>
          <p:cNvPr descr="image.png" id="118" name="Google Shape;118;p15"/>
          <p:cNvPicPr preferRelativeResize="0"/>
          <p:nvPr/>
        </p:nvPicPr>
        <p:blipFill rotWithShape="1">
          <a:blip r:embed="rId4">
            <a:alphaModFix/>
          </a:blip>
          <a:srcRect b="0" l="0" r="0" t="0"/>
          <a:stretch/>
        </p:blipFill>
        <p:spPr>
          <a:xfrm>
            <a:off x="0" y="0"/>
            <a:ext cx="12192000" cy="666750"/>
          </a:xfrm>
          <a:prstGeom prst="rect">
            <a:avLst/>
          </a:prstGeom>
          <a:noFill/>
          <a:ln>
            <a:noFill/>
          </a:ln>
        </p:spPr>
      </p:pic>
      <p:sp>
        <p:nvSpPr>
          <p:cNvPr id="119" name="Google Shape;119;p15"/>
          <p:cNvSpPr txBox="1"/>
          <p:nvPr/>
        </p:nvSpPr>
        <p:spPr>
          <a:xfrm>
            <a:off x="571500" y="1635472"/>
            <a:ext cx="11601450" cy="685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u="none" cap="none" strike="noStrike">
                <a:solidFill>
                  <a:srgbClr val="FFFFFF"/>
                </a:solidFill>
                <a:latin typeface="Poppins"/>
                <a:ea typeface="Poppins"/>
                <a:cs typeface="Poppins"/>
                <a:sym typeface="Poppins"/>
              </a:rPr>
              <a:t>Integration </a:t>
            </a:r>
            <a:r>
              <a:rPr b="1" i="0" lang="en-US" sz="3600" u="none" cap="none" strike="noStrike">
                <a:solidFill>
                  <a:srgbClr val="00E5FF"/>
                </a:solidFill>
                <a:latin typeface="Poppins"/>
                <a:ea typeface="Poppins"/>
                <a:cs typeface="Poppins"/>
                <a:sym typeface="Poppins"/>
              </a:rPr>
              <a:t>Workflow</a:t>
            </a:r>
            <a:endParaRPr/>
          </a:p>
        </p:txBody>
      </p:sp>
      <p:sp>
        <p:nvSpPr>
          <p:cNvPr id="120" name="Google Shape;120;p15"/>
          <p:cNvSpPr txBox="1"/>
          <p:nvPr/>
        </p:nvSpPr>
        <p:spPr>
          <a:xfrm>
            <a:off x="381000" y="6543675"/>
            <a:ext cx="1333500" cy="1619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50" u="none" cap="none" strike="noStrike">
                <a:solidFill>
                  <a:srgbClr val="94A3B8"/>
                </a:solidFill>
                <a:latin typeface="Lato"/>
                <a:ea typeface="Lato"/>
                <a:cs typeface="Lato"/>
                <a:sym typeface="Lato"/>
              </a:rPr>
              <a:t>CSE383 - Final Project</a:t>
            </a:r>
            <a:endParaRPr/>
          </a:p>
        </p:txBody>
      </p:sp>
      <p:sp>
        <p:nvSpPr>
          <p:cNvPr id="121" name="Google Shape;121;p15"/>
          <p:cNvSpPr txBox="1"/>
          <p:nvPr/>
        </p:nvSpPr>
        <p:spPr>
          <a:xfrm>
            <a:off x="11344275" y="6543675"/>
            <a:ext cx="466725" cy="1619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50" u="none" cap="none" strike="noStrike">
                <a:solidFill>
                  <a:srgbClr val="94A3B8"/>
                </a:solidFill>
                <a:latin typeface="Lato"/>
                <a:ea typeface="Lato"/>
                <a:cs typeface="Lato"/>
                <a:sym typeface="Lato"/>
              </a:rPr>
              <a:t>Slide 03</a:t>
            </a:r>
            <a:endParaRPr/>
          </a:p>
        </p:txBody>
      </p:sp>
      <p:sp>
        <p:nvSpPr>
          <p:cNvPr id="122" name="Google Shape;122;p15"/>
          <p:cNvSpPr txBox="1"/>
          <p:nvPr/>
        </p:nvSpPr>
        <p:spPr>
          <a:xfrm>
            <a:off x="571500" y="5079652"/>
            <a:ext cx="11049000" cy="257175"/>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None/>
            </a:pPr>
            <a:r>
              <a:rPr b="0" i="0" lang="en-US" sz="1350" u="none" cap="none" strike="noStrike">
                <a:solidFill>
                  <a:srgbClr val="94A3B8"/>
                </a:solidFill>
                <a:latin typeface="Lato"/>
                <a:ea typeface="Lato"/>
                <a:cs typeface="Lato"/>
                <a:sym typeface="Lato"/>
              </a:rPr>
              <a:t>An end-to-end automated pipeline connecting hardware sensors to structured data storage.</a:t>
            </a:r>
            <a:endParaRPr/>
          </a:p>
        </p:txBody>
      </p:sp>
      <p:sp>
        <p:nvSpPr>
          <p:cNvPr id="123" name="Google Shape;123;p15"/>
          <p:cNvSpPr txBox="1"/>
          <p:nvPr/>
        </p:nvSpPr>
        <p:spPr>
          <a:xfrm>
            <a:off x="571500" y="3692872"/>
            <a:ext cx="1238250" cy="319980"/>
          </a:xfrm>
          <a:prstGeom prst="rect">
            <a:avLst/>
          </a:prstGeom>
          <a:noFill/>
          <a:ln>
            <a:noFill/>
          </a:ln>
        </p:spPr>
        <p:txBody>
          <a:bodyPr anchorCtr="0" anchor="t" bIns="0" lIns="0" spcFirstLastPara="1" rIns="0" wrap="square" tIns="0">
            <a:spAutoFit/>
          </a:bodyPr>
          <a:lstStyle/>
          <a:p>
            <a:pPr indent="0" lvl="0" marL="0" marR="0" rtl="0" algn="ctr">
              <a:lnSpc>
                <a:spcPct val="70000"/>
              </a:lnSpc>
              <a:spcBef>
                <a:spcPts val="0"/>
              </a:spcBef>
              <a:spcAft>
                <a:spcPts val="0"/>
              </a:spcAft>
              <a:buNone/>
            </a:pPr>
            <a:r>
              <a:rPr b="0" i="0" lang="en-US" sz="1050" u="none" cap="none" strike="noStrike">
                <a:solidFill>
                  <a:srgbClr val="FFFFFF"/>
                </a:solidFill>
                <a:latin typeface="Lato"/>
                <a:ea typeface="Lato"/>
                <a:cs typeface="Lato"/>
                <a:sym typeface="Lato"/>
              </a:rPr>
              <a:t>Camera</a:t>
            </a:r>
            <a:br>
              <a:rPr b="0" i="0" lang="en-US" sz="1800" u="none" cap="none" strike="noStrike">
                <a:solidFill>
                  <a:schemeClr val="dk1"/>
                </a:solidFill>
                <a:latin typeface="Calibri"/>
                <a:ea typeface="Calibri"/>
                <a:cs typeface="Calibri"/>
                <a:sym typeface="Calibri"/>
              </a:rPr>
            </a:br>
            <a:r>
              <a:rPr b="0" i="0" lang="en-US" sz="1050" u="none" cap="none" strike="noStrike">
                <a:solidFill>
                  <a:srgbClr val="FFFFFF"/>
                </a:solidFill>
                <a:latin typeface="Lato"/>
                <a:ea typeface="Lato"/>
                <a:cs typeface="Lato"/>
                <a:sym typeface="Lato"/>
              </a:rPr>
              <a:t> Activates</a:t>
            </a:r>
            <a:endParaRPr/>
          </a:p>
        </p:txBody>
      </p:sp>
      <p:sp>
        <p:nvSpPr>
          <p:cNvPr id="124" name="Google Shape;124;p15"/>
          <p:cNvSpPr txBox="1"/>
          <p:nvPr/>
        </p:nvSpPr>
        <p:spPr>
          <a:xfrm>
            <a:off x="2206525" y="3692872"/>
            <a:ext cx="1238250" cy="319980"/>
          </a:xfrm>
          <a:prstGeom prst="rect">
            <a:avLst/>
          </a:prstGeom>
          <a:noFill/>
          <a:ln>
            <a:noFill/>
          </a:ln>
        </p:spPr>
        <p:txBody>
          <a:bodyPr anchorCtr="0" anchor="t" bIns="0" lIns="0" spcFirstLastPara="1" rIns="0" wrap="square" tIns="0">
            <a:spAutoFit/>
          </a:bodyPr>
          <a:lstStyle/>
          <a:p>
            <a:pPr indent="0" lvl="0" marL="0" marR="0" rtl="0" algn="ctr">
              <a:lnSpc>
                <a:spcPct val="70000"/>
              </a:lnSpc>
              <a:spcBef>
                <a:spcPts val="0"/>
              </a:spcBef>
              <a:spcAft>
                <a:spcPts val="0"/>
              </a:spcAft>
              <a:buNone/>
            </a:pPr>
            <a:r>
              <a:rPr b="0" i="0" lang="en-US" sz="1050" u="none" cap="none" strike="noStrike">
                <a:solidFill>
                  <a:srgbClr val="FFFFFF"/>
                </a:solidFill>
                <a:latin typeface="Lato"/>
                <a:ea typeface="Lato"/>
                <a:cs typeface="Lato"/>
                <a:sym typeface="Lato"/>
              </a:rPr>
              <a:t>Attendance</a:t>
            </a:r>
            <a:br>
              <a:rPr b="0" i="0" lang="en-US" sz="1800" u="none" cap="none" strike="noStrike">
                <a:solidFill>
                  <a:schemeClr val="dk1"/>
                </a:solidFill>
                <a:latin typeface="Calibri"/>
                <a:ea typeface="Calibri"/>
                <a:cs typeface="Calibri"/>
                <a:sym typeface="Calibri"/>
              </a:rPr>
            </a:br>
            <a:r>
              <a:rPr b="0" i="0" lang="en-US" sz="1050" u="none" cap="none" strike="noStrike">
                <a:solidFill>
                  <a:srgbClr val="FFFFFF"/>
                </a:solidFill>
                <a:latin typeface="Lato"/>
                <a:ea typeface="Lato"/>
                <a:cs typeface="Lato"/>
                <a:sym typeface="Lato"/>
              </a:rPr>
              <a:t> Marked</a:t>
            </a:r>
            <a:endParaRPr/>
          </a:p>
        </p:txBody>
      </p:sp>
      <p:sp>
        <p:nvSpPr>
          <p:cNvPr id="125" name="Google Shape;125;p15"/>
          <p:cNvSpPr txBox="1"/>
          <p:nvPr/>
        </p:nvSpPr>
        <p:spPr>
          <a:xfrm>
            <a:off x="3841551" y="3692872"/>
            <a:ext cx="1238250" cy="319980"/>
          </a:xfrm>
          <a:prstGeom prst="rect">
            <a:avLst/>
          </a:prstGeom>
          <a:noFill/>
          <a:ln>
            <a:noFill/>
          </a:ln>
        </p:spPr>
        <p:txBody>
          <a:bodyPr anchorCtr="0" anchor="t" bIns="0" lIns="0" spcFirstLastPara="1" rIns="0" wrap="square" tIns="0">
            <a:spAutoFit/>
          </a:bodyPr>
          <a:lstStyle/>
          <a:p>
            <a:pPr indent="0" lvl="0" marL="0" marR="0" rtl="0" algn="ctr">
              <a:lnSpc>
                <a:spcPct val="70000"/>
              </a:lnSpc>
              <a:spcBef>
                <a:spcPts val="0"/>
              </a:spcBef>
              <a:spcAft>
                <a:spcPts val="0"/>
              </a:spcAft>
              <a:buNone/>
            </a:pPr>
            <a:r>
              <a:rPr b="0" i="0" lang="en-US" sz="1050" u="none" cap="none" strike="noStrike">
                <a:solidFill>
                  <a:srgbClr val="FFFFFF"/>
                </a:solidFill>
                <a:latin typeface="Lato"/>
                <a:ea typeface="Lato"/>
                <a:cs typeface="Lato"/>
                <a:sym typeface="Lato"/>
              </a:rPr>
              <a:t>Mood</a:t>
            </a:r>
            <a:br>
              <a:rPr b="0" i="0" lang="en-US" sz="1800" u="none" cap="none" strike="noStrike">
                <a:solidFill>
                  <a:schemeClr val="dk1"/>
                </a:solidFill>
                <a:latin typeface="Calibri"/>
                <a:ea typeface="Calibri"/>
                <a:cs typeface="Calibri"/>
                <a:sym typeface="Calibri"/>
              </a:rPr>
            </a:br>
            <a:r>
              <a:rPr b="0" i="0" lang="en-US" sz="1050" u="none" cap="none" strike="noStrike">
                <a:solidFill>
                  <a:srgbClr val="FFFFFF"/>
                </a:solidFill>
                <a:latin typeface="Lato"/>
                <a:ea typeface="Lato"/>
                <a:cs typeface="Lato"/>
                <a:sym typeface="Lato"/>
              </a:rPr>
              <a:t> Logged</a:t>
            </a:r>
            <a:endParaRPr/>
          </a:p>
        </p:txBody>
      </p:sp>
      <p:sp>
        <p:nvSpPr>
          <p:cNvPr id="126" name="Google Shape;126;p15"/>
          <p:cNvSpPr txBox="1"/>
          <p:nvPr/>
        </p:nvSpPr>
        <p:spPr>
          <a:xfrm>
            <a:off x="5476577" y="3554759"/>
            <a:ext cx="1238250" cy="319980"/>
          </a:xfrm>
          <a:prstGeom prst="rect">
            <a:avLst/>
          </a:prstGeom>
          <a:noFill/>
          <a:ln>
            <a:noFill/>
          </a:ln>
        </p:spPr>
        <p:txBody>
          <a:bodyPr anchorCtr="0" anchor="t" bIns="0" lIns="0" spcFirstLastPara="1" rIns="0" wrap="square" tIns="0">
            <a:spAutoFit/>
          </a:bodyPr>
          <a:lstStyle/>
          <a:p>
            <a:pPr indent="0" lvl="0" marL="0" marR="0" rtl="0" algn="ctr">
              <a:lnSpc>
                <a:spcPct val="70000"/>
              </a:lnSpc>
              <a:spcBef>
                <a:spcPts val="0"/>
              </a:spcBef>
              <a:spcAft>
                <a:spcPts val="0"/>
              </a:spcAft>
              <a:buNone/>
            </a:pPr>
            <a:r>
              <a:rPr b="0" i="0" lang="en-US" sz="1050" u="none" cap="none" strike="noStrike">
                <a:solidFill>
                  <a:srgbClr val="FFFFFF"/>
                </a:solidFill>
                <a:latin typeface="Lato"/>
                <a:ea typeface="Lato"/>
                <a:cs typeface="Lato"/>
                <a:sym typeface="Lato"/>
              </a:rPr>
              <a:t>Audio</a:t>
            </a:r>
            <a:br>
              <a:rPr b="0" i="0" lang="en-US" sz="1800" u="none" cap="none" strike="noStrike">
                <a:solidFill>
                  <a:schemeClr val="dk1"/>
                </a:solidFill>
                <a:latin typeface="Calibri"/>
                <a:ea typeface="Calibri"/>
                <a:cs typeface="Calibri"/>
                <a:sym typeface="Calibri"/>
              </a:rPr>
            </a:br>
            <a:r>
              <a:rPr b="0" i="0" lang="en-US" sz="1050" u="none" cap="none" strike="noStrike">
                <a:solidFill>
                  <a:srgbClr val="FFFFFF"/>
                </a:solidFill>
                <a:latin typeface="Lato"/>
                <a:ea typeface="Lato"/>
                <a:cs typeface="Lato"/>
                <a:sym typeface="Lato"/>
              </a:rPr>
              <a:t> Captured</a:t>
            </a:r>
            <a:endParaRPr/>
          </a:p>
        </p:txBody>
      </p:sp>
      <p:sp>
        <p:nvSpPr>
          <p:cNvPr id="127" name="Google Shape;127;p15"/>
          <p:cNvSpPr txBox="1"/>
          <p:nvPr/>
        </p:nvSpPr>
        <p:spPr>
          <a:xfrm>
            <a:off x="7111603" y="3692872"/>
            <a:ext cx="1238250" cy="319980"/>
          </a:xfrm>
          <a:prstGeom prst="rect">
            <a:avLst/>
          </a:prstGeom>
          <a:noFill/>
          <a:ln>
            <a:noFill/>
          </a:ln>
        </p:spPr>
        <p:txBody>
          <a:bodyPr anchorCtr="0" anchor="t" bIns="0" lIns="0" spcFirstLastPara="1" rIns="0" wrap="square" tIns="0">
            <a:spAutoFit/>
          </a:bodyPr>
          <a:lstStyle/>
          <a:p>
            <a:pPr indent="0" lvl="0" marL="0" marR="0" rtl="0" algn="ctr">
              <a:lnSpc>
                <a:spcPct val="70000"/>
              </a:lnSpc>
              <a:spcBef>
                <a:spcPts val="0"/>
              </a:spcBef>
              <a:spcAft>
                <a:spcPts val="0"/>
              </a:spcAft>
              <a:buNone/>
            </a:pPr>
            <a:r>
              <a:rPr b="0" i="0" lang="en-US" sz="1050" u="none" cap="none" strike="noStrike">
                <a:solidFill>
                  <a:srgbClr val="FFFFFF"/>
                </a:solidFill>
                <a:latin typeface="Lato"/>
                <a:ea typeface="Lato"/>
                <a:cs typeface="Lato"/>
                <a:sym typeface="Lato"/>
              </a:rPr>
              <a:t>Text</a:t>
            </a:r>
            <a:br>
              <a:rPr b="0" i="0" lang="en-US" sz="1800" u="none" cap="none" strike="noStrike">
                <a:solidFill>
                  <a:schemeClr val="dk1"/>
                </a:solidFill>
                <a:latin typeface="Calibri"/>
                <a:ea typeface="Calibri"/>
                <a:cs typeface="Calibri"/>
                <a:sym typeface="Calibri"/>
              </a:rPr>
            </a:br>
            <a:r>
              <a:rPr b="0" i="0" lang="en-US" sz="1050" u="none" cap="none" strike="noStrike">
                <a:solidFill>
                  <a:srgbClr val="FFFFFF"/>
                </a:solidFill>
                <a:latin typeface="Lato"/>
                <a:ea typeface="Lato"/>
                <a:cs typeface="Lato"/>
                <a:sym typeface="Lato"/>
              </a:rPr>
              <a:t> Transcription</a:t>
            </a:r>
            <a:endParaRPr/>
          </a:p>
        </p:txBody>
      </p:sp>
      <p:sp>
        <p:nvSpPr>
          <p:cNvPr id="128" name="Google Shape;128;p15"/>
          <p:cNvSpPr txBox="1"/>
          <p:nvPr/>
        </p:nvSpPr>
        <p:spPr>
          <a:xfrm>
            <a:off x="8746628" y="3692872"/>
            <a:ext cx="1238250" cy="319980"/>
          </a:xfrm>
          <a:prstGeom prst="rect">
            <a:avLst/>
          </a:prstGeom>
          <a:noFill/>
          <a:ln>
            <a:noFill/>
          </a:ln>
        </p:spPr>
        <p:txBody>
          <a:bodyPr anchorCtr="0" anchor="t" bIns="0" lIns="0" spcFirstLastPara="1" rIns="0" wrap="square" tIns="0">
            <a:spAutoFit/>
          </a:bodyPr>
          <a:lstStyle/>
          <a:p>
            <a:pPr indent="0" lvl="0" marL="0" marR="0" rtl="0" algn="ctr">
              <a:lnSpc>
                <a:spcPct val="70000"/>
              </a:lnSpc>
              <a:spcBef>
                <a:spcPts val="0"/>
              </a:spcBef>
              <a:spcAft>
                <a:spcPts val="0"/>
              </a:spcAft>
              <a:buNone/>
            </a:pPr>
            <a:r>
              <a:rPr b="0" i="0" lang="en-US" sz="1050" u="none" cap="none" strike="noStrike">
                <a:solidFill>
                  <a:srgbClr val="FFFFFF"/>
                </a:solidFill>
                <a:latin typeface="Lato"/>
                <a:ea typeface="Lato"/>
                <a:cs typeface="Lato"/>
                <a:sym typeface="Lato"/>
              </a:rPr>
              <a:t>Topic</a:t>
            </a:r>
            <a:br>
              <a:rPr b="0" i="0" lang="en-US" sz="1800" u="none" cap="none" strike="noStrike">
                <a:solidFill>
                  <a:schemeClr val="dk1"/>
                </a:solidFill>
                <a:latin typeface="Calibri"/>
                <a:ea typeface="Calibri"/>
                <a:cs typeface="Calibri"/>
                <a:sym typeface="Calibri"/>
              </a:rPr>
            </a:br>
            <a:r>
              <a:rPr b="0" i="0" lang="en-US" sz="1050" u="none" cap="none" strike="noStrike">
                <a:solidFill>
                  <a:srgbClr val="FFFFFF"/>
                </a:solidFill>
                <a:latin typeface="Lato"/>
                <a:ea typeface="Lato"/>
                <a:cs typeface="Lato"/>
                <a:sym typeface="Lato"/>
              </a:rPr>
              <a:t> Predicted</a:t>
            </a:r>
            <a:endParaRPr/>
          </a:p>
        </p:txBody>
      </p:sp>
      <p:sp>
        <p:nvSpPr>
          <p:cNvPr id="129" name="Google Shape;129;p15"/>
          <p:cNvSpPr txBox="1"/>
          <p:nvPr/>
        </p:nvSpPr>
        <p:spPr>
          <a:xfrm>
            <a:off x="10381654" y="3692872"/>
            <a:ext cx="1238250" cy="319980"/>
          </a:xfrm>
          <a:prstGeom prst="rect">
            <a:avLst/>
          </a:prstGeom>
          <a:noFill/>
          <a:ln>
            <a:noFill/>
          </a:ln>
        </p:spPr>
        <p:txBody>
          <a:bodyPr anchorCtr="0" anchor="t" bIns="0" lIns="0" spcFirstLastPara="1" rIns="0" wrap="square" tIns="0">
            <a:spAutoFit/>
          </a:bodyPr>
          <a:lstStyle/>
          <a:p>
            <a:pPr indent="0" lvl="0" marL="0" marR="0" rtl="0" algn="ctr">
              <a:lnSpc>
                <a:spcPct val="70000"/>
              </a:lnSpc>
              <a:spcBef>
                <a:spcPts val="0"/>
              </a:spcBef>
              <a:spcAft>
                <a:spcPts val="0"/>
              </a:spcAft>
              <a:buNone/>
            </a:pPr>
            <a:r>
              <a:rPr b="0" i="0" lang="en-US" sz="1050" u="none" cap="none" strike="noStrike">
                <a:solidFill>
                  <a:srgbClr val="FFFFFF"/>
                </a:solidFill>
                <a:latin typeface="Lato"/>
                <a:ea typeface="Lato"/>
                <a:cs typeface="Lato"/>
                <a:sym typeface="Lato"/>
              </a:rPr>
              <a:t>Saved to</a:t>
            </a:r>
            <a:br>
              <a:rPr b="0" i="0" lang="en-US" sz="1800" u="none" cap="none" strike="noStrike">
                <a:solidFill>
                  <a:schemeClr val="dk1"/>
                </a:solidFill>
                <a:latin typeface="Calibri"/>
                <a:ea typeface="Calibri"/>
                <a:cs typeface="Calibri"/>
                <a:sym typeface="Calibri"/>
              </a:rPr>
            </a:br>
            <a:r>
              <a:rPr b="0" i="0" lang="en-US" sz="1050" u="none" cap="none" strike="noStrike">
                <a:solidFill>
                  <a:srgbClr val="FFFFFF"/>
                </a:solidFill>
                <a:latin typeface="Lato"/>
                <a:ea typeface="Lato"/>
                <a:cs typeface="Lato"/>
                <a:sym typeface="Lato"/>
              </a:rPr>
              <a:t> CSV Log</a:t>
            </a:r>
            <a:endParaRPr/>
          </a:p>
        </p:txBody>
      </p:sp>
      <p:sp>
        <p:nvSpPr>
          <p:cNvPr id="130" name="Google Shape;130;p15"/>
          <p:cNvSpPr/>
          <p:nvPr/>
        </p:nvSpPr>
        <p:spPr>
          <a:xfrm>
            <a:off x="1318846" y="3292822"/>
            <a:ext cx="1238400" cy="19200"/>
          </a:xfrm>
          <a:prstGeom prst="rect">
            <a:avLst/>
          </a:prstGeom>
          <a:solidFill>
            <a:srgbClr val="00E5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1" name="Google Shape;131;p15"/>
          <p:cNvSpPr/>
          <p:nvPr/>
        </p:nvSpPr>
        <p:spPr>
          <a:xfrm>
            <a:off x="2972188" y="3292822"/>
            <a:ext cx="1238400" cy="19200"/>
          </a:xfrm>
          <a:prstGeom prst="rect">
            <a:avLst/>
          </a:prstGeom>
          <a:solidFill>
            <a:srgbClr val="00E5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2" name="Google Shape;132;p15"/>
          <p:cNvSpPr/>
          <p:nvPr/>
        </p:nvSpPr>
        <p:spPr>
          <a:xfrm>
            <a:off x="4717118" y="3292822"/>
            <a:ext cx="1238400" cy="19200"/>
          </a:xfrm>
          <a:prstGeom prst="rect">
            <a:avLst/>
          </a:prstGeom>
          <a:solidFill>
            <a:srgbClr val="00E5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3" name="Google Shape;133;p15"/>
          <p:cNvSpPr/>
          <p:nvPr/>
        </p:nvSpPr>
        <p:spPr>
          <a:xfrm>
            <a:off x="6205606" y="3297213"/>
            <a:ext cx="1238400" cy="19200"/>
          </a:xfrm>
          <a:prstGeom prst="rect">
            <a:avLst/>
          </a:prstGeom>
          <a:solidFill>
            <a:srgbClr val="00E5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4" name="Google Shape;134;p15"/>
          <p:cNvSpPr/>
          <p:nvPr/>
        </p:nvSpPr>
        <p:spPr>
          <a:xfrm>
            <a:off x="7785680" y="3292822"/>
            <a:ext cx="1238400" cy="19200"/>
          </a:xfrm>
          <a:prstGeom prst="rect">
            <a:avLst/>
          </a:prstGeom>
          <a:solidFill>
            <a:srgbClr val="00E5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5" name="Google Shape;135;p15"/>
          <p:cNvSpPr/>
          <p:nvPr/>
        </p:nvSpPr>
        <p:spPr>
          <a:xfrm>
            <a:off x="9478800" y="3292822"/>
            <a:ext cx="1238400" cy="19200"/>
          </a:xfrm>
          <a:prstGeom prst="rect">
            <a:avLst/>
          </a:prstGeom>
          <a:solidFill>
            <a:srgbClr val="00E5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136" name="Google Shape;136;p15"/>
          <p:cNvPicPr preferRelativeResize="0"/>
          <p:nvPr/>
        </p:nvPicPr>
        <p:blipFill rotWithShape="1">
          <a:blip r:embed="rId5">
            <a:alphaModFix/>
          </a:blip>
          <a:srcRect b="0" l="0" r="0" t="0"/>
          <a:stretch/>
        </p:blipFill>
        <p:spPr>
          <a:xfrm>
            <a:off x="866775" y="2988022"/>
            <a:ext cx="647700" cy="609600"/>
          </a:xfrm>
          <a:prstGeom prst="rect">
            <a:avLst/>
          </a:prstGeom>
          <a:noFill/>
          <a:ln>
            <a:noFill/>
          </a:ln>
        </p:spPr>
      </p:pic>
      <p:pic>
        <p:nvPicPr>
          <p:cNvPr descr="image.png" id="137" name="Google Shape;137;p15"/>
          <p:cNvPicPr preferRelativeResize="0"/>
          <p:nvPr/>
        </p:nvPicPr>
        <p:blipFill rotWithShape="1">
          <a:blip r:embed="rId6">
            <a:alphaModFix/>
          </a:blip>
          <a:srcRect b="0" l="0" r="0" t="0"/>
          <a:stretch/>
        </p:blipFill>
        <p:spPr>
          <a:xfrm>
            <a:off x="2501800" y="2988022"/>
            <a:ext cx="647700" cy="609600"/>
          </a:xfrm>
          <a:prstGeom prst="rect">
            <a:avLst/>
          </a:prstGeom>
          <a:noFill/>
          <a:ln>
            <a:noFill/>
          </a:ln>
        </p:spPr>
      </p:pic>
      <p:pic>
        <p:nvPicPr>
          <p:cNvPr descr="image.png" id="138" name="Google Shape;138;p15"/>
          <p:cNvPicPr preferRelativeResize="0"/>
          <p:nvPr/>
        </p:nvPicPr>
        <p:blipFill rotWithShape="1">
          <a:blip r:embed="rId7">
            <a:alphaModFix/>
          </a:blip>
          <a:srcRect b="0" l="0" r="0" t="0"/>
          <a:stretch/>
        </p:blipFill>
        <p:spPr>
          <a:xfrm>
            <a:off x="4155876" y="2988022"/>
            <a:ext cx="609600" cy="609600"/>
          </a:xfrm>
          <a:prstGeom prst="rect">
            <a:avLst/>
          </a:prstGeom>
          <a:noFill/>
          <a:ln>
            <a:noFill/>
          </a:ln>
        </p:spPr>
      </p:pic>
      <p:pic>
        <p:nvPicPr>
          <p:cNvPr descr="image.png" id="139" name="Google Shape;139;p15"/>
          <p:cNvPicPr preferRelativeResize="0"/>
          <p:nvPr/>
        </p:nvPicPr>
        <p:blipFill rotWithShape="1">
          <a:blip r:embed="rId8">
            <a:alphaModFix/>
          </a:blip>
          <a:srcRect b="0" l="0" r="0" t="0"/>
          <a:stretch/>
        </p:blipFill>
        <p:spPr>
          <a:xfrm>
            <a:off x="5943302" y="3126134"/>
            <a:ext cx="304800" cy="304800"/>
          </a:xfrm>
          <a:prstGeom prst="rect">
            <a:avLst/>
          </a:prstGeom>
          <a:noFill/>
          <a:ln>
            <a:noFill/>
          </a:ln>
        </p:spPr>
      </p:pic>
      <p:pic>
        <p:nvPicPr>
          <p:cNvPr descr="image.png" id="140" name="Google Shape;140;p15"/>
          <p:cNvPicPr preferRelativeResize="0"/>
          <p:nvPr/>
        </p:nvPicPr>
        <p:blipFill rotWithShape="1">
          <a:blip r:embed="rId9">
            <a:alphaModFix/>
          </a:blip>
          <a:srcRect b="0" l="0" r="0" t="0"/>
          <a:stretch/>
        </p:blipFill>
        <p:spPr>
          <a:xfrm>
            <a:off x="7464028" y="2988022"/>
            <a:ext cx="533400" cy="609600"/>
          </a:xfrm>
          <a:prstGeom prst="rect">
            <a:avLst/>
          </a:prstGeom>
          <a:noFill/>
          <a:ln>
            <a:noFill/>
          </a:ln>
        </p:spPr>
      </p:pic>
      <p:pic>
        <p:nvPicPr>
          <p:cNvPr descr="image.png" id="141" name="Google Shape;141;p15"/>
          <p:cNvPicPr preferRelativeResize="0"/>
          <p:nvPr/>
        </p:nvPicPr>
        <p:blipFill rotWithShape="1">
          <a:blip r:embed="rId10">
            <a:alphaModFix/>
          </a:blip>
          <a:srcRect b="0" l="0" r="0" t="0"/>
          <a:stretch/>
        </p:blipFill>
        <p:spPr>
          <a:xfrm>
            <a:off x="9060953" y="2988022"/>
            <a:ext cx="609600" cy="609600"/>
          </a:xfrm>
          <a:prstGeom prst="rect">
            <a:avLst/>
          </a:prstGeom>
          <a:noFill/>
          <a:ln>
            <a:noFill/>
          </a:ln>
        </p:spPr>
      </p:pic>
      <p:pic>
        <p:nvPicPr>
          <p:cNvPr descr="image.png" id="142" name="Google Shape;142;p15"/>
          <p:cNvPicPr preferRelativeResize="0"/>
          <p:nvPr/>
        </p:nvPicPr>
        <p:blipFill rotWithShape="1">
          <a:blip r:embed="rId11">
            <a:alphaModFix/>
          </a:blip>
          <a:srcRect b="0" l="0" r="0" t="0"/>
          <a:stretch/>
        </p:blipFill>
        <p:spPr>
          <a:xfrm>
            <a:off x="10715029" y="2988022"/>
            <a:ext cx="571500" cy="6096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1529"/>
        </a:solidFill>
      </p:bgPr>
    </p:bg>
    <p:spTree>
      <p:nvGrpSpPr>
        <p:cNvPr id="146" name="Shape 146"/>
        <p:cNvGrpSpPr/>
        <p:nvPr/>
      </p:nvGrpSpPr>
      <p:grpSpPr>
        <a:xfrm>
          <a:off x="0" y="0"/>
          <a:ext cx="0" cy="0"/>
          <a:chOff x="0" y="0"/>
          <a:chExt cx="0" cy="0"/>
        </a:xfrm>
      </p:grpSpPr>
      <p:pic>
        <p:nvPicPr>
          <p:cNvPr descr="image.png" id="147" name="Google Shape;147;p16"/>
          <p:cNvPicPr preferRelativeResize="0"/>
          <p:nvPr/>
        </p:nvPicPr>
        <p:blipFill rotWithShape="1">
          <a:blip r:embed="rId3">
            <a:alphaModFix/>
          </a:blip>
          <a:srcRect b="0" l="0" r="0" t="0"/>
          <a:stretch/>
        </p:blipFill>
        <p:spPr>
          <a:xfrm>
            <a:off x="0" y="6381750"/>
            <a:ext cx="12192000" cy="476250"/>
          </a:xfrm>
          <a:prstGeom prst="rect">
            <a:avLst/>
          </a:prstGeom>
          <a:noFill/>
          <a:ln>
            <a:noFill/>
          </a:ln>
        </p:spPr>
      </p:pic>
      <p:pic>
        <p:nvPicPr>
          <p:cNvPr descr="image.png" id="148" name="Google Shape;148;p16"/>
          <p:cNvPicPr preferRelativeResize="0"/>
          <p:nvPr/>
        </p:nvPicPr>
        <p:blipFill rotWithShape="1">
          <a:blip r:embed="rId4">
            <a:alphaModFix/>
          </a:blip>
          <a:srcRect b="0" l="0" r="0" t="0"/>
          <a:stretch/>
        </p:blipFill>
        <p:spPr>
          <a:xfrm>
            <a:off x="0" y="0"/>
            <a:ext cx="12192000" cy="666750"/>
          </a:xfrm>
          <a:prstGeom prst="rect">
            <a:avLst/>
          </a:prstGeom>
          <a:noFill/>
          <a:ln>
            <a:noFill/>
          </a:ln>
        </p:spPr>
      </p:pic>
      <p:sp>
        <p:nvSpPr>
          <p:cNvPr id="149" name="Google Shape;149;p16"/>
          <p:cNvSpPr txBox="1"/>
          <p:nvPr/>
        </p:nvSpPr>
        <p:spPr>
          <a:xfrm>
            <a:off x="571500" y="1276350"/>
            <a:ext cx="11601450" cy="685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u="none" cap="none" strike="noStrike">
                <a:solidFill>
                  <a:srgbClr val="FFFFFF"/>
                </a:solidFill>
                <a:latin typeface="Poppins"/>
                <a:ea typeface="Poppins"/>
                <a:cs typeface="Poppins"/>
                <a:sym typeface="Poppins"/>
              </a:rPr>
              <a:t>Face Recognition &amp; </a:t>
            </a:r>
            <a:r>
              <a:rPr b="1" i="0" lang="en-US" sz="3600" u="none" cap="none" strike="noStrike">
                <a:solidFill>
                  <a:srgbClr val="00E5FF"/>
                </a:solidFill>
                <a:latin typeface="Poppins"/>
                <a:ea typeface="Poppins"/>
                <a:cs typeface="Poppins"/>
                <a:sym typeface="Poppins"/>
              </a:rPr>
              <a:t>Attendance</a:t>
            </a:r>
            <a:endParaRPr/>
          </a:p>
        </p:txBody>
      </p:sp>
      <p:sp>
        <p:nvSpPr>
          <p:cNvPr id="150" name="Google Shape;150;p16"/>
          <p:cNvSpPr txBox="1"/>
          <p:nvPr/>
        </p:nvSpPr>
        <p:spPr>
          <a:xfrm>
            <a:off x="381000" y="6543675"/>
            <a:ext cx="1333500" cy="1619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50" u="none" cap="none" strike="noStrike">
                <a:solidFill>
                  <a:srgbClr val="94A3B8"/>
                </a:solidFill>
                <a:latin typeface="Lato"/>
                <a:ea typeface="Lato"/>
                <a:cs typeface="Lato"/>
                <a:sym typeface="Lato"/>
              </a:rPr>
              <a:t>CSE383 - Final Project</a:t>
            </a:r>
            <a:endParaRPr/>
          </a:p>
        </p:txBody>
      </p:sp>
      <p:sp>
        <p:nvSpPr>
          <p:cNvPr id="151" name="Google Shape;151;p16"/>
          <p:cNvSpPr txBox="1"/>
          <p:nvPr/>
        </p:nvSpPr>
        <p:spPr>
          <a:xfrm>
            <a:off x="11344275" y="6543675"/>
            <a:ext cx="466725" cy="1619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50" u="none" cap="none" strike="noStrike">
                <a:solidFill>
                  <a:srgbClr val="94A3B8"/>
                </a:solidFill>
                <a:latin typeface="Lato"/>
                <a:ea typeface="Lato"/>
                <a:cs typeface="Lato"/>
                <a:sym typeface="Lato"/>
              </a:rPr>
              <a:t>Slide 04</a:t>
            </a:r>
            <a:endParaRPr/>
          </a:p>
        </p:txBody>
      </p:sp>
      <p:sp>
        <p:nvSpPr>
          <p:cNvPr id="152" name="Google Shape;152;p16"/>
          <p:cNvSpPr txBox="1"/>
          <p:nvPr/>
        </p:nvSpPr>
        <p:spPr>
          <a:xfrm>
            <a:off x="571500" y="2400300"/>
            <a:ext cx="5334000" cy="314325"/>
          </a:xfrm>
          <a:prstGeom prst="rect">
            <a:avLst/>
          </a:prstGeom>
          <a:noFill/>
          <a:ln>
            <a:noFill/>
          </a:ln>
        </p:spPr>
        <p:txBody>
          <a:bodyPr anchorCtr="0" anchor="t" bIns="0" lIns="352425" spcFirstLastPara="1" rIns="0" wrap="square" tIns="0">
            <a:spAutoFit/>
          </a:bodyPr>
          <a:lstStyle/>
          <a:p>
            <a:pPr indent="0" lvl="0" marL="0" marR="0" rtl="0" algn="l">
              <a:lnSpc>
                <a:spcPct val="150000"/>
              </a:lnSpc>
              <a:spcBef>
                <a:spcPts val="0"/>
              </a:spcBef>
              <a:spcAft>
                <a:spcPts val="0"/>
              </a:spcAft>
              <a:buNone/>
            </a:pPr>
            <a:r>
              <a:rPr b="0" i="0" lang="en-US" sz="1650" u="none" cap="none" strike="noStrike">
                <a:solidFill>
                  <a:srgbClr val="E2E8F0"/>
                </a:solidFill>
                <a:latin typeface="Lato"/>
                <a:ea typeface="Lato"/>
                <a:cs typeface="Lato"/>
                <a:sym typeface="Lato"/>
              </a:rPr>
              <a:t>Built with OpenCV + face_recognition library</a:t>
            </a:r>
            <a:endParaRPr/>
          </a:p>
        </p:txBody>
      </p:sp>
      <p:sp>
        <p:nvSpPr>
          <p:cNvPr id="153" name="Google Shape;153;p16"/>
          <p:cNvSpPr txBox="1"/>
          <p:nvPr/>
        </p:nvSpPr>
        <p:spPr>
          <a:xfrm>
            <a:off x="571500" y="2905125"/>
            <a:ext cx="5334000" cy="314325"/>
          </a:xfrm>
          <a:prstGeom prst="rect">
            <a:avLst/>
          </a:prstGeom>
          <a:noFill/>
          <a:ln>
            <a:noFill/>
          </a:ln>
        </p:spPr>
        <p:txBody>
          <a:bodyPr anchorCtr="0" anchor="t" bIns="0" lIns="352425" spcFirstLastPara="1" rIns="0" wrap="square" tIns="0">
            <a:spAutoFit/>
          </a:bodyPr>
          <a:lstStyle/>
          <a:p>
            <a:pPr indent="0" lvl="0" marL="0" marR="0" rtl="0" algn="l">
              <a:lnSpc>
                <a:spcPct val="150000"/>
              </a:lnSpc>
              <a:spcBef>
                <a:spcPts val="0"/>
              </a:spcBef>
              <a:spcAft>
                <a:spcPts val="0"/>
              </a:spcAft>
              <a:buNone/>
            </a:pPr>
            <a:r>
              <a:rPr b="0" i="0" lang="en-US" sz="1650" u="none" cap="none" strike="noStrike">
                <a:solidFill>
                  <a:srgbClr val="E2E8F0"/>
                </a:solidFill>
                <a:latin typeface="Lato"/>
                <a:ea typeface="Lato"/>
                <a:cs typeface="Lato"/>
                <a:sym typeface="Lato"/>
              </a:rPr>
              <a:t>Loads known encodings from local 'faces' directory</a:t>
            </a:r>
            <a:endParaRPr/>
          </a:p>
        </p:txBody>
      </p:sp>
      <p:sp>
        <p:nvSpPr>
          <p:cNvPr id="154" name="Google Shape;154;p16"/>
          <p:cNvSpPr txBox="1"/>
          <p:nvPr/>
        </p:nvSpPr>
        <p:spPr>
          <a:xfrm>
            <a:off x="571500" y="3409950"/>
            <a:ext cx="5334000" cy="314325"/>
          </a:xfrm>
          <a:prstGeom prst="rect">
            <a:avLst/>
          </a:prstGeom>
          <a:noFill/>
          <a:ln>
            <a:noFill/>
          </a:ln>
        </p:spPr>
        <p:txBody>
          <a:bodyPr anchorCtr="0" anchor="t" bIns="0" lIns="352425" spcFirstLastPara="1" rIns="0" wrap="square" tIns="0">
            <a:spAutoFit/>
          </a:bodyPr>
          <a:lstStyle/>
          <a:p>
            <a:pPr indent="0" lvl="0" marL="0" marR="0" rtl="0" algn="l">
              <a:lnSpc>
                <a:spcPct val="150000"/>
              </a:lnSpc>
              <a:spcBef>
                <a:spcPts val="0"/>
              </a:spcBef>
              <a:spcAft>
                <a:spcPts val="0"/>
              </a:spcAft>
              <a:buNone/>
            </a:pPr>
            <a:r>
              <a:rPr b="0" i="0" lang="en-US" sz="1650" u="none" cap="none" strike="noStrike">
                <a:solidFill>
                  <a:srgbClr val="E2E8F0"/>
                </a:solidFill>
                <a:latin typeface="Lato"/>
                <a:ea typeface="Lato"/>
                <a:cs typeface="Lato"/>
                <a:sym typeface="Lato"/>
              </a:rPr>
              <a:t>Real-time comparison of live webcam frames</a:t>
            </a:r>
            <a:endParaRPr/>
          </a:p>
        </p:txBody>
      </p:sp>
      <p:sp>
        <p:nvSpPr>
          <p:cNvPr id="155" name="Google Shape;155;p16"/>
          <p:cNvSpPr txBox="1"/>
          <p:nvPr/>
        </p:nvSpPr>
        <p:spPr>
          <a:xfrm>
            <a:off x="571500" y="3914775"/>
            <a:ext cx="5334000" cy="314325"/>
          </a:xfrm>
          <a:prstGeom prst="rect">
            <a:avLst/>
          </a:prstGeom>
          <a:noFill/>
          <a:ln>
            <a:noFill/>
          </a:ln>
        </p:spPr>
        <p:txBody>
          <a:bodyPr anchorCtr="0" anchor="t" bIns="0" lIns="352425" spcFirstLastPara="1" rIns="0" wrap="square" tIns="0">
            <a:spAutoFit/>
          </a:bodyPr>
          <a:lstStyle/>
          <a:p>
            <a:pPr indent="0" lvl="0" marL="0" marR="0" rtl="0" algn="l">
              <a:lnSpc>
                <a:spcPct val="150000"/>
              </a:lnSpc>
              <a:spcBef>
                <a:spcPts val="0"/>
              </a:spcBef>
              <a:spcAft>
                <a:spcPts val="0"/>
              </a:spcAft>
              <a:buNone/>
            </a:pPr>
            <a:r>
              <a:rPr b="0" i="0" lang="en-US" sz="1650" u="none" cap="none" strike="noStrike">
                <a:solidFill>
                  <a:srgbClr val="E2E8F0"/>
                </a:solidFill>
                <a:latin typeface="Lato"/>
                <a:ea typeface="Lato"/>
                <a:cs typeface="Lato"/>
                <a:sym typeface="Lato"/>
              </a:rPr>
              <a:t>Automated attendance logging for known students</a:t>
            </a:r>
            <a:endParaRPr/>
          </a:p>
        </p:txBody>
      </p:sp>
      <p:sp>
        <p:nvSpPr>
          <p:cNvPr id="156" name="Google Shape;156;p16"/>
          <p:cNvSpPr txBox="1"/>
          <p:nvPr/>
        </p:nvSpPr>
        <p:spPr>
          <a:xfrm>
            <a:off x="571500" y="4419600"/>
            <a:ext cx="5334000" cy="314325"/>
          </a:xfrm>
          <a:prstGeom prst="rect">
            <a:avLst/>
          </a:prstGeom>
          <a:noFill/>
          <a:ln>
            <a:noFill/>
          </a:ln>
        </p:spPr>
        <p:txBody>
          <a:bodyPr anchorCtr="0" anchor="t" bIns="0" lIns="352425" spcFirstLastPara="1" rIns="0" wrap="square" tIns="0">
            <a:spAutoFit/>
          </a:bodyPr>
          <a:lstStyle/>
          <a:p>
            <a:pPr indent="0" lvl="0" marL="0" marR="0" rtl="0" algn="l">
              <a:lnSpc>
                <a:spcPct val="150000"/>
              </a:lnSpc>
              <a:spcBef>
                <a:spcPts val="0"/>
              </a:spcBef>
              <a:spcAft>
                <a:spcPts val="0"/>
              </a:spcAft>
              <a:buNone/>
            </a:pPr>
            <a:r>
              <a:rPr b="0" i="0" lang="en-US" sz="1650" u="none" cap="none" strike="noStrike">
                <a:solidFill>
                  <a:srgbClr val="E2E8F0"/>
                </a:solidFill>
                <a:latin typeface="Lato"/>
                <a:ea typeface="Lato"/>
                <a:cs typeface="Lato"/>
                <a:sym typeface="Lato"/>
              </a:rPr>
              <a:t>Flags unknown faces for manual intervention</a:t>
            </a:r>
            <a:endParaRPr/>
          </a:p>
        </p:txBody>
      </p:sp>
      <p:pic>
        <p:nvPicPr>
          <p:cNvPr descr="image.png" id="157" name="Google Shape;157;p16"/>
          <p:cNvPicPr preferRelativeResize="0"/>
          <p:nvPr/>
        </p:nvPicPr>
        <p:blipFill rotWithShape="1">
          <a:blip r:embed="rId5">
            <a:alphaModFix/>
          </a:blip>
          <a:srcRect b="0" l="0" r="0" t="0"/>
          <a:stretch/>
        </p:blipFill>
        <p:spPr>
          <a:xfrm>
            <a:off x="571500" y="2452687"/>
            <a:ext cx="209550" cy="219075"/>
          </a:xfrm>
          <a:prstGeom prst="rect">
            <a:avLst/>
          </a:prstGeom>
          <a:noFill/>
          <a:ln>
            <a:noFill/>
          </a:ln>
        </p:spPr>
      </p:pic>
      <p:pic>
        <p:nvPicPr>
          <p:cNvPr descr="image.png" id="158" name="Google Shape;158;p16"/>
          <p:cNvPicPr preferRelativeResize="0"/>
          <p:nvPr/>
        </p:nvPicPr>
        <p:blipFill rotWithShape="1">
          <a:blip r:embed="rId5">
            <a:alphaModFix/>
          </a:blip>
          <a:srcRect b="0" l="0" r="0" t="0"/>
          <a:stretch/>
        </p:blipFill>
        <p:spPr>
          <a:xfrm>
            <a:off x="571500" y="2957512"/>
            <a:ext cx="209550" cy="219075"/>
          </a:xfrm>
          <a:prstGeom prst="rect">
            <a:avLst/>
          </a:prstGeom>
          <a:noFill/>
          <a:ln>
            <a:noFill/>
          </a:ln>
        </p:spPr>
      </p:pic>
      <p:pic>
        <p:nvPicPr>
          <p:cNvPr descr="image.png" id="159" name="Google Shape;159;p16"/>
          <p:cNvPicPr preferRelativeResize="0"/>
          <p:nvPr/>
        </p:nvPicPr>
        <p:blipFill rotWithShape="1">
          <a:blip r:embed="rId5">
            <a:alphaModFix/>
          </a:blip>
          <a:srcRect b="0" l="0" r="0" t="0"/>
          <a:stretch/>
        </p:blipFill>
        <p:spPr>
          <a:xfrm>
            <a:off x="571500" y="3462337"/>
            <a:ext cx="209550" cy="219075"/>
          </a:xfrm>
          <a:prstGeom prst="rect">
            <a:avLst/>
          </a:prstGeom>
          <a:noFill/>
          <a:ln>
            <a:noFill/>
          </a:ln>
        </p:spPr>
      </p:pic>
      <p:pic>
        <p:nvPicPr>
          <p:cNvPr descr="image.png" id="160" name="Google Shape;160;p16"/>
          <p:cNvPicPr preferRelativeResize="0"/>
          <p:nvPr/>
        </p:nvPicPr>
        <p:blipFill rotWithShape="1">
          <a:blip r:embed="rId5">
            <a:alphaModFix/>
          </a:blip>
          <a:srcRect b="0" l="0" r="0" t="0"/>
          <a:stretch/>
        </p:blipFill>
        <p:spPr>
          <a:xfrm>
            <a:off x="571500" y="3967162"/>
            <a:ext cx="209550" cy="219075"/>
          </a:xfrm>
          <a:prstGeom prst="rect">
            <a:avLst/>
          </a:prstGeom>
          <a:noFill/>
          <a:ln>
            <a:noFill/>
          </a:ln>
        </p:spPr>
      </p:pic>
      <p:pic>
        <p:nvPicPr>
          <p:cNvPr descr="image.png" id="161" name="Google Shape;161;p16"/>
          <p:cNvPicPr preferRelativeResize="0"/>
          <p:nvPr/>
        </p:nvPicPr>
        <p:blipFill rotWithShape="1">
          <a:blip r:embed="rId5">
            <a:alphaModFix/>
          </a:blip>
          <a:srcRect b="0" l="0" r="0" t="0"/>
          <a:stretch/>
        </p:blipFill>
        <p:spPr>
          <a:xfrm>
            <a:off x="571500" y="4471987"/>
            <a:ext cx="209550" cy="219075"/>
          </a:xfrm>
          <a:prstGeom prst="rect">
            <a:avLst/>
          </a:prstGeom>
          <a:noFill/>
          <a:ln>
            <a:noFill/>
          </a:ln>
        </p:spPr>
      </p:pic>
      <p:pic>
        <p:nvPicPr>
          <p:cNvPr id="162" name="Google Shape;162;p16" title="attendance 1.jpeg"/>
          <p:cNvPicPr preferRelativeResize="0"/>
          <p:nvPr/>
        </p:nvPicPr>
        <p:blipFill rotWithShape="1">
          <a:blip r:embed="rId6">
            <a:alphaModFix/>
          </a:blip>
          <a:srcRect b="8517" l="0" r="0" t="0"/>
          <a:stretch/>
        </p:blipFill>
        <p:spPr>
          <a:xfrm>
            <a:off x="5905500" y="2008350"/>
            <a:ext cx="5981700" cy="2599274"/>
          </a:xfrm>
          <a:prstGeom prst="rect">
            <a:avLst/>
          </a:prstGeom>
          <a:noFill/>
          <a:ln>
            <a:noFill/>
          </a:ln>
        </p:spPr>
      </p:pic>
      <p:pic>
        <p:nvPicPr>
          <p:cNvPr id="163" name="Google Shape;163;p16" title="attendance 2.jpeg"/>
          <p:cNvPicPr preferRelativeResize="0"/>
          <p:nvPr/>
        </p:nvPicPr>
        <p:blipFill rotWithShape="1">
          <a:blip r:embed="rId7">
            <a:alphaModFix/>
          </a:blip>
          <a:srcRect b="0" l="0" r="0" t="8975"/>
          <a:stretch/>
        </p:blipFill>
        <p:spPr>
          <a:xfrm>
            <a:off x="5915433" y="4607625"/>
            <a:ext cx="5981700" cy="12809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1529"/>
        </a:solidFill>
      </p:bgPr>
    </p:bg>
    <p:spTree>
      <p:nvGrpSpPr>
        <p:cNvPr id="167" name="Shape 167"/>
        <p:cNvGrpSpPr/>
        <p:nvPr/>
      </p:nvGrpSpPr>
      <p:grpSpPr>
        <a:xfrm>
          <a:off x="0" y="0"/>
          <a:ext cx="0" cy="0"/>
          <a:chOff x="0" y="0"/>
          <a:chExt cx="0" cy="0"/>
        </a:xfrm>
      </p:grpSpPr>
      <p:pic>
        <p:nvPicPr>
          <p:cNvPr descr="image.png" id="168" name="Google Shape;168;p17"/>
          <p:cNvPicPr preferRelativeResize="0"/>
          <p:nvPr/>
        </p:nvPicPr>
        <p:blipFill rotWithShape="1">
          <a:blip r:embed="rId3">
            <a:alphaModFix/>
          </a:blip>
          <a:srcRect b="0" l="0" r="0" t="0"/>
          <a:stretch/>
        </p:blipFill>
        <p:spPr>
          <a:xfrm>
            <a:off x="0" y="6381750"/>
            <a:ext cx="12192000" cy="476250"/>
          </a:xfrm>
          <a:prstGeom prst="rect">
            <a:avLst/>
          </a:prstGeom>
          <a:noFill/>
          <a:ln>
            <a:noFill/>
          </a:ln>
        </p:spPr>
      </p:pic>
      <p:pic>
        <p:nvPicPr>
          <p:cNvPr descr="image.png" id="169" name="Google Shape;169;p17"/>
          <p:cNvPicPr preferRelativeResize="0"/>
          <p:nvPr/>
        </p:nvPicPr>
        <p:blipFill rotWithShape="1">
          <a:blip r:embed="rId4">
            <a:alphaModFix/>
          </a:blip>
          <a:srcRect b="0" l="0" r="0" t="0"/>
          <a:stretch/>
        </p:blipFill>
        <p:spPr>
          <a:xfrm>
            <a:off x="0" y="0"/>
            <a:ext cx="12192000" cy="666750"/>
          </a:xfrm>
          <a:prstGeom prst="rect">
            <a:avLst/>
          </a:prstGeom>
          <a:noFill/>
          <a:ln>
            <a:noFill/>
          </a:ln>
        </p:spPr>
      </p:pic>
      <p:sp>
        <p:nvSpPr>
          <p:cNvPr id="170" name="Google Shape;170;p17"/>
          <p:cNvSpPr txBox="1"/>
          <p:nvPr/>
        </p:nvSpPr>
        <p:spPr>
          <a:xfrm>
            <a:off x="571500" y="1181100"/>
            <a:ext cx="11601450" cy="685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u="none" cap="none" strike="noStrike">
                <a:solidFill>
                  <a:srgbClr val="FFFFFF"/>
                </a:solidFill>
                <a:latin typeface="Poppins"/>
                <a:ea typeface="Poppins"/>
                <a:cs typeface="Poppins"/>
                <a:sym typeface="Poppins"/>
              </a:rPr>
              <a:t>Student </a:t>
            </a:r>
            <a:r>
              <a:rPr b="1" i="0" lang="en-US" sz="3600" u="none" cap="none" strike="noStrike">
                <a:solidFill>
                  <a:srgbClr val="00E5FF"/>
                </a:solidFill>
                <a:latin typeface="Poppins"/>
                <a:ea typeface="Poppins"/>
                <a:cs typeface="Poppins"/>
                <a:sym typeface="Poppins"/>
              </a:rPr>
              <a:t>Mood Analysis</a:t>
            </a:r>
            <a:endParaRPr/>
          </a:p>
        </p:txBody>
      </p:sp>
      <p:sp>
        <p:nvSpPr>
          <p:cNvPr id="171" name="Google Shape;171;p17"/>
          <p:cNvSpPr txBox="1"/>
          <p:nvPr/>
        </p:nvSpPr>
        <p:spPr>
          <a:xfrm>
            <a:off x="381000" y="6543675"/>
            <a:ext cx="1333500" cy="1619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50" u="none" cap="none" strike="noStrike">
                <a:solidFill>
                  <a:srgbClr val="94A3B8"/>
                </a:solidFill>
                <a:latin typeface="Lato"/>
                <a:ea typeface="Lato"/>
                <a:cs typeface="Lato"/>
                <a:sym typeface="Lato"/>
              </a:rPr>
              <a:t>CSE383 - Final Project</a:t>
            </a:r>
            <a:endParaRPr/>
          </a:p>
        </p:txBody>
      </p:sp>
      <p:sp>
        <p:nvSpPr>
          <p:cNvPr id="172" name="Google Shape;172;p17"/>
          <p:cNvSpPr txBox="1"/>
          <p:nvPr/>
        </p:nvSpPr>
        <p:spPr>
          <a:xfrm>
            <a:off x="11344275" y="6543675"/>
            <a:ext cx="466725" cy="1619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50" u="none" cap="none" strike="noStrike">
                <a:solidFill>
                  <a:srgbClr val="94A3B8"/>
                </a:solidFill>
                <a:latin typeface="Lato"/>
                <a:ea typeface="Lato"/>
                <a:cs typeface="Lato"/>
                <a:sym typeface="Lato"/>
              </a:rPr>
              <a:t>Slide 05</a:t>
            </a:r>
            <a:endParaRPr/>
          </a:p>
        </p:txBody>
      </p:sp>
      <p:pic>
        <p:nvPicPr>
          <p:cNvPr descr="image.png" id="173" name="Google Shape;173;p17"/>
          <p:cNvPicPr preferRelativeResize="0"/>
          <p:nvPr/>
        </p:nvPicPr>
        <p:blipFill rotWithShape="1">
          <a:blip r:embed="rId5">
            <a:alphaModFix/>
          </a:blip>
          <a:srcRect b="0" l="0" r="0" t="0"/>
          <a:stretch/>
        </p:blipFill>
        <p:spPr>
          <a:xfrm>
            <a:off x="571500" y="2152650"/>
            <a:ext cx="5334000" cy="3810000"/>
          </a:xfrm>
          <a:prstGeom prst="rect">
            <a:avLst/>
          </a:prstGeom>
          <a:noFill/>
          <a:ln>
            <a:noFill/>
          </a:ln>
        </p:spPr>
      </p:pic>
      <p:sp>
        <p:nvSpPr>
          <p:cNvPr id="174" name="Google Shape;174;p17"/>
          <p:cNvSpPr txBox="1"/>
          <p:nvPr/>
        </p:nvSpPr>
        <p:spPr>
          <a:xfrm>
            <a:off x="6286500" y="2895600"/>
            <a:ext cx="5334000" cy="254100"/>
          </a:xfrm>
          <a:prstGeom prst="rect">
            <a:avLst/>
          </a:prstGeom>
          <a:noFill/>
          <a:ln>
            <a:noFill/>
          </a:ln>
        </p:spPr>
        <p:txBody>
          <a:bodyPr anchorCtr="0" anchor="t" bIns="0" lIns="323850" spcFirstLastPara="1" rIns="0" wrap="square" tIns="0">
            <a:spAutoFit/>
          </a:bodyPr>
          <a:lstStyle/>
          <a:p>
            <a:pPr indent="0" lvl="0" marL="0" marR="0" rtl="0" algn="l">
              <a:lnSpc>
                <a:spcPct val="150000"/>
              </a:lnSpc>
              <a:spcBef>
                <a:spcPts val="0"/>
              </a:spcBef>
              <a:spcAft>
                <a:spcPts val="0"/>
              </a:spcAft>
              <a:buNone/>
            </a:pPr>
            <a:r>
              <a:rPr b="0" i="0" lang="en-US" sz="1650" u="none" cap="none" strike="noStrike">
                <a:solidFill>
                  <a:srgbClr val="E2E8F0"/>
                </a:solidFill>
                <a:latin typeface="Lato"/>
                <a:ea typeface="Lato"/>
                <a:cs typeface="Lato"/>
                <a:sym typeface="Lato"/>
              </a:rPr>
              <a:t>Powered by FER (Facial Expression Recognition)</a:t>
            </a:r>
            <a:endParaRPr/>
          </a:p>
        </p:txBody>
      </p:sp>
      <p:sp>
        <p:nvSpPr>
          <p:cNvPr id="175" name="Google Shape;175;p17"/>
          <p:cNvSpPr txBox="1"/>
          <p:nvPr/>
        </p:nvSpPr>
        <p:spPr>
          <a:xfrm>
            <a:off x="6286500" y="3352800"/>
            <a:ext cx="5334000" cy="254100"/>
          </a:xfrm>
          <a:prstGeom prst="rect">
            <a:avLst/>
          </a:prstGeom>
          <a:noFill/>
          <a:ln>
            <a:noFill/>
          </a:ln>
        </p:spPr>
        <p:txBody>
          <a:bodyPr anchorCtr="0" anchor="t" bIns="0" lIns="323850" spcFirstLastPara="1" rIns="0" wrap="square" tIns="0">
            <a:spAutoFit/>
          </a:bodyPr>
          <a:lstStyle/>
          <a:p>
            <a:pPr indent="0" lvl="0" marL="0" marR="0" rtl="0" algn="l">
              <a:lnSpc>
                <a:spcPct val="150000"/>
              </a:lnSpc>
              <a:spcBef>
                <a:spcPts val="0"/>
              </a:spcBef>
              <a:spcAft>
                <a:spcPts val="0"/>
              </a:spcAft>
              <a:buNone/>
            </a:pPr>
            <a:r>
              <a:rPr b="0" i="0" lang="en-US" sz="1650" u="none" cap="none" strike="noStrike">
                <a:solidFill>
                  <a:srgbClr val="E2E8F0"/>
                </a:solidFill>
                <a:latin typeface="Lato"/>
                <a:ea typeface="Lato"/>
                <a:cs typeface="Lato"/>
                <a:sym typeface="Lato"/>
              </a:rPr>
              <a:t>Deep Learning (CNN) pre-trained model</a:t>
            </a:r>
            <a:endParaRPr/>
          </a:p>
        </p:txBody>
      </p:sp>
      <p:sp>
        <p:nvSpPr>
          <p:cNvPr id="176" name="Google Shape;176;p17"/>
          <p:cNvSpPr txBox="1"/>
          <p:nvPr/>
        </p:nvSpPr>
        <p:spPr>
          <a:xfrm>
            <a:off x="6286500" y="3810000"/>
            <a:ext cx="5334000" cy="254100"/>
          </a:xfrm>
          <a:prstGeom prst="rect">
            <a:avLst/>
          </a:prstGeom>
          <a:noFill/>
          <a:ln>
            <a:noFill/>
          </a:ln>
        </p:spPr>
        <p:txBody>
          <a:bodyPr anchorCtr="0" anchor="t" bIns="0" lIns="323850" spcFirstLastPara="1" rIns="0" wrap="square" tIns="0">
            <a:spAutoFit/>
          </a:bodyPr>
          <a:lstStyle/>
          <a:p>
            <a:pPr indent="0" lvl="0" marL="0" marR="0" rtl="0" algn="l">
              <a:lnSpc>
                <a:spcPct val="150000"/>
              </a:lnSpc>
              <a:spcBef>
                <a:spcPts val="0"/>
              </a:spcBef>
              <a:spcAft>
                <a:spcPts val="0"/>
              </a:spcAft>
              <a:buNone/>
            </a:pPr>
            <a:r>
              <a:rPr b="0" i="0" lang="en-US" sz="1650" u="none" cap="none" strike="noStrike">
                <a:solidFill>
                  <a:srgbClr val="E2E8F0"/>
                </a:solidFill>
                <a:latin typeface="Lato"/>
                <a:ea typeface="Lato"/>
                <a:cs typeface="Lato"/>
                <a:sym typeface="Lato"/>
              </a:rPr>
              <a:t>Detects: Happy, Sad, Neutral, Angry, Surprised</a:t>
            </a:r>
            <a:endParaRPr/>
          </a:p>
        </p:txBody>
      </p:sp>
      <p:sp>
        <p:nvSpPr>
          <p:cNvPr id="177" name="Google Shape;177;p17"/>
          <p:cNvSpPr txBox="1"/>
          <p:nvPr/>
        </p:nvSpPr>
        <p:spPr>
          <a:xfrm>
            <a:off x="6286500" y="4267200"/>
            <a:ext cx="5334000" cy="254100"/>
          </a:xfrm>
          <a:prstGeom prst="rect">
            <a:avLst/>
          </a:prstGeom>
          <a:noFill/>
          <a:ln>
            <a:noFill/>
          </a:ln>
        </p:spPr>
        <p:txBody>
          <a:bodyPr anchorCtr="0" anchor="t" bIns="0" lIns="323850" spcFirstLastPara="1" rIns="0" wrap="square" tIns="0">
            <a:spAutoFit/>
          </a:bodyPr>
          <a:lstStyle/>
          <a:p>
            <a:pPr indent="0" lvl="0" marL="0" marR="0" rtl="0" algn="l">
              <a:lnSpc>
                <a:spcPct val="150000"/>
              </a:lnSpc>
              <a:spcBef>
                <a:spcPts val="0"/>
              </a:spcBef>
              <a:spcAft>
                <a:spcPts val="0"/>
              </a:spcAft>
              <a:buNone/>
            </a:pPr>
            <a:r>
              <a:rPr b="0" i="0" lang="en-US" sz="1650" u="none" cap="none" strike="noStrike">
                <a:solidFill>
                  <a:srgbClr val="E2E8F0"/>
                </a:solidFill>
                <a:latin typeface="Lato"/>
                <a:ea typeface="Lato"/>
                <a:cs typeface="Lato"/>
                <a:sym typeface="Lato"/>
              </a:rPr>
              <a:t>Helps instructors measure lecture engagement</a:t>
            </a:r>
            <a:endParaRPr/>
          </a:p>
        </p:txBody>
      </p:sp>
      <p:pic>
        <p:nvPicPr>
          <p:cNvPr descr="image.png" id="178" name="Google Shape;178;p17"/>
          <p:cNvPicPr preferRelativeResize="0"/>
          <p:nvPr/>
        </p:nvPicPr>
        <p:blipFill rotWithShape="1">
          <a:blip r:embed="rId6">
            <a:alphaModFix/>
          </a:blip>
          <a:srcRect b="0" l="0" r="0" t="0"/>
          <a:stretch/>
        </p:blipFill>
        <p:spPr>
          <a:xfrm>
            <a:off x="6286500" y="2947987"/>
            <a:ext cx="180975" cy="219075"/>
          </a:xfrm>
          <a:prstGeom prst="rect">
            <a:avLst/>
          </a:prstGeom>
          <a:noFill/>
          <a:ln>
            <a:noFill/>
          </a:ln>
        </p:spPr>
      </p:pic>
      <p:pic>
        <p:nvPicPr>
          <p:cNvPr descr="image.png" id="179" name="Google Shape;179;p17"/>
          <p:cNvPicPr preferRelativeResize="0"/>
          <p:nvPr/>
        </p:nvPicPr>
        <p:blipFill rotWithShape="1">
          <a:blip r:embed="rId6">
            <a:alphaModFix/>
          </a:blip>
          <a:srcRect b="0" l="0" r="0" t="0"/>
          <a:stretch/>
        </p:blipFill>
        <p:spPr>
          <a:xfrm>
            <a:off x="6286500" y="3405187"/>
            <a:ext cx="180975" cy="219075"/>
          </a:xfrm>
          <a:prstGeom prst="rect">
            <a:avLst/>
          </a:prstGeom>
          <a:noFill/>
          <a:ln>
            <a:noFill/>
          </a:ln>
        </p:spPr>
      </p:pic>
      <p:pic>
        <p:nvPicPr>
          <p:cNvPr descr="image.png" id="180" name="Google Shape;180;p17"/>
          <p:cNvPicPr preferRelativeResize="0"/>
          <p:nvPr/>
        </p:nvPicPr>
        <p:blipFill rotWithShape="1">
          <a:blip r:embed="rId6">
            <a:alphaModFix/>
          </a:blip>
          <a:srcRect b="0" l="0" r="0" t="0"/>
          <a:stretch/>
        </p:blipFill>
        <p:spPr>
          <a:xfrm>
            <a:off x="6286500" y="3862387"/>
            <a:ext cx="180975" cy="219075"/>
          </a:xfrm>
          <a:prstGeom prst="rect">
            <a:avLst/>
          </a:prstGeom>
          <a:noFill/>
          <a:ln>
            <a:noFill/>
          </a:ln>
        </p:spPr>
      </p:pic>
      <p:pic>
        <p:nvPicPr>
          <p:cNvPr descr="image.png" id="181" name="Google Shape;181;p17"/>
          <p:cNvPicPr preferRelativeResize="0"/>
          <p:nvPr/>
        </p:nvPicPr>
        <p:blipFill rotWithShape="1">
          <a:blip r:embed="rId6">
            <a:alphaModFix/>
          </a:blip>
          <a:srcRect b="0" l="0" r="0" t="0"/>
          <a:stretch/>
        </p:blipFill>
        <p:spPr>
          <a:xfrm>
            <a:off x="6286500" y="4319587"/>
            <a:ext cx="180975" cy="2190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1529"/>
        </a:solidFill>
      </p:bgPr>
    </p:bg>
    <p:spTree>
      <p:nvGrpSpPr>
        <p:cNvPr id="185" name="Shape 185"/>
        <p:cNvGrpSpPr/>
        <p:nvPr/>
      </p:nvGrpSpPr>
      <p:grpSpPr>
        <a:xfrm>
          <a:off x="0" y="0"/>
          <a:ext cx="0" cy="0"/>
          <a:chOff x="0" y="0"/>
          <a:chExt cx="0" cy="0"/>
        </a:xfrm>
      </p:grpSpPr>
      <p:pic>
        <p:nvPicPr>
          <p:cNvPr descr="image.png" id="186" name="Google Shape;186;p18"/>
          <p:cNvPicPr preferRelativeResize="0"/>
          <p:nvPr/>
        </p:nvPicPr>
        <p:blipFill rotWithShape="1">
          <a:blip r:embed="rId3">
            <a:alphaModFix/>
          </a:blip>
          <a:srcRect b="0" l="0" r="0" t="0"/>
          <a:stretch/>
        </p:blipFill>
        <p:spPr>
          <a:xfrm>
            <a:off x="0" y="6381750"/>
            <a:ext cx="12192000" cy="476250"/>
          </a:xfrm>
          <a:prstGeom prst="rect">
            <a:avLst/>
          </a:prstGeom>
          <a:noFill/>
          <a:ln>
            <a:noFill/>
          </a:ln>
        </p:spPr>
      </p:pic>
      <p:pic>
        <p:nvPicPr>
          <p:cNvPr descr="image.png" id="187" name="Google Shape;187;p18"/>
          <p:cNvPicPr preferRelativeResize="0"/>
          <p:nvPr/>
        </p:nvPicPr>
        <p:blipFill rotWithShape="1">
          <a:blip r:embed="rId4">
            <a:alphaModFix/>
          </a:blip>
          <a:srcRect b="0" l="0" r="0" t="0"/>
          <a:stretch/>
        </p:blipFill>
        <p:spPr>
          <a:xfrm>
            <a:off x="571500" y="4229100"/>
            <a:ext cx="5334000" cy="1504950"/>
          </a:xfrm>
          <a:prstGeom prst="rect">
            <a:avLst/>
          </a:prstGeom>
          <a:noFill/>
          <a:ln>
            <a:noFill/>
          </a:ln>
        </p:spPr>
      </p:pic>
      <p:pic>
        <p:nvPicPr>
          <p:cNvPr descr="image.png" id="188" name="Google Shape;188;p18"/>
          <p:cNvPicPr preferRelativeResize="0"/>
          <p:nvPr/>
        </p:nvPicPr>
        <p:blipFill rotWithShape="1">
          <a:blip r:embed="rId5">
            <a:alphaModFix/>
          </a:blip>
          <a:srcRect b="0" l="0" r="0" t="0"/>
          <a:stretch/>
        </p:blipFill>
        <p:spPr>
          <a:xfrm>
            <a:off x="0" y="0"/>
            <a:ext cx="12192000" cy="666750"/>
          </a:xfrm>
          <a:prstGeom prst="rect">
            <a:avLst/>
          </a:prstGeom>
          <a:noFill/>
          <a:ln>
            <a:noFill/>
          </a:ln>
        </p:spPr>
      </p:pic>
      <p:sp>
        <p:nvSpPr>
          <p:cNvPr id="189" name="Google Shape;189;p18"/>
          <p:cNvSpPr txBox="1"/>
          <p:nvPr/>
        </p:nvSpPr>
        <p:spPr>
          <a:xfrm>
            <a:off x="571500" y="1085850"/>
            <a:ext cx="11601450" cy="685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u="none" cap="none" strike="noStrike">
                <a:solidFill>
                  <a:srgbClr val="FFFFFF"/>
                </a:solidFill>
                <a:latin typeface="Poppins"/>
                <a:ea typeface="Poppins"/>
                <a:cs typeface="Poppins"/>
                <a:sym typeface="Poppins"/>
              </a:rPr>
              <a:t>Capturing </a:t>
            </a:r>
            <a:r>
              <a:rPr b="1" i="0" lang="en-US" sz="3600" u="none" cap="none" strike="noStrike">
                <a:solidFill>
                  <a:srgbClr val="00E5FF"/>
                </a:solidFill>
                <a:latin typeface="Poppins"/>
                <a:ea typeface="Poppins"/>
                <a:cs typeface="Poppins"/>
                <a:sym typeface="Poppins"/>
              </a:rPr>
              <a:t>Student Questions</a:t>
            </a:r>
            <a:endParaRPr/>
          </a:p>
        </p:txBody>
      </p:sp>
      <p:sp>
        <p:nvSpPr>
          <p:cNvPr id="190" name="Google Shape;190;p18"/>
          <p:cNvSpPr txBox="1"/>
          <p:nvPr/>
        </p:nvSpPr>
        <p:spPr>
          <a:xfrm>
            <a:off x="381000" y="6543675"/>
            <a:ext cx="1333500" cy="1619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50" u="none" cap="none" strike="noStrike">
                <a:solidFill>
                  <a:srgbClr val="94A3B8"/>
                </a:solidFill>
                <a:latin typeface="Lato"/>
                <a:ea typeface="Lato"/>
                <a:cs typeface="Lato"/>
                <a:sym typeface="Lato"/>
              </a:rPr>
              <a:t>CSE383 - Final Project</a:t>
            </a:r>
            <a:endParaRPr/>
          </a:p>
        </p:txBody>
      </p:sp>
      <p:sp>
        <p:nvSpPr>
          <p:cNvPr id="191" name="Google Shape;191;p18"/>
          <p:cNvSpPr txBox="1"/>
          <p:nvPr/>
        </p:nvSpPr>
        <p:spPr>
          <a:xfrm>
            <a:off x="11344275" y="6543675"/>
            <a:ext cx="466725" cy="1619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50" u="none" cap="none" strike="noStrike">
                <a:solidFill>
                  <a:srgbClr val="94A3B8"/>
                </a:solidFill>
                <a:latin typeface="Lato"/>
                <a:ea typeface="Lato"/>
                <a:cs typeface="Lato"/>
                <a:sym typeface="Lato"/>
              </a:rPr>
              <a:t>Slide 06</a:t>
            </a:r>
            <a:endParaRPr/>
          </a:p>
        </p:txBody>
      </p:sp>
      <p:sp>
        <p:nvSpPr>
          <p:cNvPr id="192" name="Google Shape;192;p18"/>
          <p:cNvSpPr txBox="1"/>
          <p:nvPr/>
        </p:nvSpPr>
        <p:spPr>
          <a:xfrm>
            <a:off x="571500" y="2209800"/>
            <a:ext cx="5334000" cy="314325"/>
          </a:xfrm>
          <a:prstGeom prst="rect">
            <a:avLst/>
          </a:prstGeom>
          <a:noFill/>
          <a:ln>
            <a:noFill/>
          </a:ln>
        </p:spPr>
        <p:txBody>
          <a:bodyPr anchorCtr="0" anchor="t" bIns="0" lIns="304800" spcFirstLastPara="1" rIns="0" wrap="square" tIns="0">
            <a:spAutoFit/>
          </a:bodyPr>
          <a:lstStyle/>
          <a:p>
            <a:pPr indent="0" lvl="0" marL="0" marR="0" rtl="0" algn="l">
              <a:lnSpc>
                <a:spcPct val="150000"/>
              </a:lnSpc>
              <a:spcBef>
                <a:spcPts val="0"/>
              </a:spcBef>
              <a:spcAft>
                <a:spcPts val="0"/>
              </a:spcAft>
              <a:buNone/>
            </a:pPr>
            <a:r>
              <a:rPr b="0" i="0" lang="en-US" sz="1650" u="none" cap="none" strike="noStrike">
                <a:solidFill>
                  <a:srgbClr val="E2E8F0"/>
                </a:solidFill>
                <a:latin typeface="Lato"/>
                <a:ea typeface="Lato"/>
                <a:cs typeface="Lato"/>
                <a:sym typeface="Lato"/>
              </a:rPr>
              <a:t>Utilizes Google Speech-to-Text API</a:t>
            </a:r>
            <a:endParaRPr/>
          </a:p>
        </p:txBody>
      </p:sp>
      <p:sp>
        <p:nvSpPr>
          <p:cNvPr id="193" name="Google Shape;193;p18"/>
          <p:cNvSpPr txBox="1"/>
          <p:nvPr/>
        </p:nvSpPr>
        <p:spPr>
          <a:xfrm>
            <a:off x="571500" y="2714625"/>
            <a:ext cx="5334000" cy="314325"/>
          </a:xfrm>
          <a:prstGeom prst="rect">
            <a:avLst/>
          </a:prstGeom>
          <a:noFill/>
          <a:ln>
            <a:noFill/>
          </a:ln>
        </p:spPr>
        <p:txBody>
          <a:bodyPr anchorCtr="0" anchor="t" bIns="0" lIns="304800" spcFirstLastPara="1" rIns="0" wrap="square" tIns="0">
            <a:spAutoFit/>
          </a:bodyPr>
          <a:lstStyle/>
          <a:p>
            <a:pPr indent="0" lvl="0" marL="0" marR="0" rtl="0" algn="l">
              <a:lnSpc>
                <a:spcPct val="150000"/>
              </a:lnSpc>
              <a:spcBef>
                <a:spcPts val="0"/>
              </a:spcBef>
              <a:spcAft>
                <a:spcPts val="0"/>
              </a:spcAft>
              <a:buNone/>
            </a:pPr>
            <a:r>
              <a:rPr b="0" i="0" lang="en-US" sz="1650" u="none" cap="none" strike="noStrike">
                <a:solidFill>
                  <a:srgbClr val="E2E8F0"/>
                </a:solidFill>
                <a:latin typeface="Lato"/>
                <a:ea typeface="Lato"/>
                <a:cs typeface="Lato"/>
                <a:sym typeface="Lato"/>
              </a:rPr>
              <a:t>Real-time audio capture via microphone</a:t>
            </a:r>
            <a:endParaRPr/>
          </a:p>
        </p:txBody>
      </p:sp>
      <p:sp>
        <p:nvSpPr>
          <p:cNvPr id="194" name="Google Shape;194;p18"/>
          <p:cNvSpPr txBox="1"/>
          <p:nvPr/>
        </p:nvSpPr>
        <p:spPr>
          <a:xfrm>
            <a:off x="571500" y="3219450"/>
            <a:ext cx="5334000" cy="314325"/>
          </a:xfrm>
          <a:prstGeom prst="rect">
            <a:avLst/>
          </a:prstGeom>
          <a:noFill/>
          <a:ln>
            <a:noFill/>
          </a:ln>
        </p:spPr>
        <p:txBody>
          <a:bodyPr anchorCtr="0" anchor="t" bIns="0" lIns="304800" spcFirstLastPara="1" rIns="0" wrap="square" tIns="0">
            <a:spAutoFit/>
          </a:bodyPr>
          <a:lstStyle/>
          <a:p>
            <a:pPr indent="0" lvl="0" marL="0" marR="0" rtl="0" algn="l">
              <a:lnSpc>
                <a:spcPct val="150000"/>
              </a:lnSpc>
              <a:spcBef>
                <a:spcPts val="0"/>
              </a:spcBef>
              <a:spcAft>
                <a:spcPts val="0"/>
              </a:spcAft>
              <a:buNone/>
            </a:pPr>
            <a:r>
              <a:rPr b="0" i="0" lang="en-US" sz="1650" u="none" cap="none" strike="noStrike">
                <a:solidFill>
                  <a:srgbClr val="E2E8F0"/>
                </a:solidFill>
                <a:latin typeface="Lato"/>
                <a:ea typeface="Lato"/>
                <a:cs typeface="Lato"/>
                <a:sym typeface="Lato"/>
              </a:rPr>
              <a:t>Intelligent silence and noise detection</a:t>
            </a:r>
            <a:endParaRPr/>
          </a:p>
        </p:txBody>
      </p:sp>
      <p:sp>
        <p:nvSpPr>
          <p:cNvPr id="195" name="Google Shape;195;p18"/>
          <p:cNvSpPr txBox="1"/>
          <p:nvPr/>
        </p:nvSpPr>
        <p:spPr>
          <a:xfrm>
            <a:off x="571500" y="3724275"/>
            <a:ext cx="5334000" cy="314325"/>
          </a:xfrm>
          <a:prstGeom prst="rect">
            <a:avLst/>
          </a:prstGeom>
          <a:noFill/>
          <a:ln>
            <a:noFill/>
          </a:ln>
        </p:spPr>
        <p:txBody>
          <a:bodyPr anchorCtr="0" anchor="t" bIns="0" lIns="304800" spcFirstLastPara="1" rIns="0" wrap="square" tIns="0">
            <a:spAutoFit/>
          </a:bodyPr>
          <a:lstStyle/>
          <a:p>
            <a:pPr indent="0" lvl="0" marL="0" marR="0" rtl="0" algn="l">
              <a:lnSpc>
                <a:spcPct val="150000"/>
              </a:lnSpc>
              <a:spcBef>
                <a:spcPts val="0"/>
              </a:spcBef>
              <a:spcAft>
                <a:spcPts val="0"/>
              </a:spcAft>
              <a:buNone/>
            </a:pPr>
            <a:r>
              <a:rPr b="0" i="0" lang="en-US" sz="1650" u="none" cap="none" strike="noStrike">
                <a:solidFill>
                  <a:srgbClr val="E2E8F0"/>
                </a:solidFill>
                <a:latin typeface="Lato"/>
                <a:ea typeface="Lato"/>
                <a:cs typeface="Lato"/>
                <a:sym typeface="Lato"/>
              </a:rPr>
              <a:t>Seamless transcription of complex queries</a:t>
            </a:r>
            <a:endParaRPr/>
          </a:p>
        </p:txBody>
      </p:sp>
      <p:sp>
        <p:nvSpPr>
          <p:cNvPr id="196" name="Google Shape;196;p18"/>
          <p:cNvSpPr txBox="1"/>
          <p:nvPr/>
        </p:nvSpPr>
        <p:spPr>
          <a:xfrm>
            <a:off x="847725" y="4638675"/>
            <a:ext cx="4819650" cy="257175"/>
          </a:xfrm>
          <a:prstGeom prst="rect">
            <a:avLst/>
          </a:prstGeom>
          <a:noFill/>
          <a:ln>
            <a:noFill/>
          </a:ln>
        </p:spPr>
        <p:txBody>
          <a:bodyPr anchorCtr="0" anchor="t" bIns="0" lIns="314325" spcFirstLastPara="1" rIns="0" wrap="square" tIns="0">
            <a:spAutoFit/>
          </a:bodyPr>
          <a:lstStyle/>
          <a:p>
            <a:pPr indent="0" lvl="0" marL="0" marR="0" rtl="0" algn="l">
              <a:lnSpc>
                <a:spcPct val="150000"/>
              </a:lnSpc>
              <a:spcBef>
                <a:spcPts val="0"/>
              </a:spcBef>
              <a:spcAft>
                <a:spcPts val="0"/>
              </a:spcAft>
              <a:buNone/>
            </a:pPr>
            <a:r>
              <a:rPr b="0" i="0" lang="en-US" sz="1350" u="none" cap="none" strike="noStrike">
                <a:solidFill>
                  <a:srgbClr val="E2E8F0"/>
                </a:solidFill>
                <a:latin typeface="Lato"/>
                <a:ea typeface="Lato"/>
                <a:cs typeface="Lato"/>
                <a:sym typeface="Lato"/>
              </a:rPr>
              <a:t>🎙️ </a:t>
            </a:r>
            <a:r>
              <a:rPr b="1" i="0" lang="en-US" sz="1350" u="none" cap="none" strike="noStrike">
                <a:solidFill>
                  <a:srgbClr val="E2E8F0"/>
                </a:solidFill>
                <a:latin typeface="Lato"/>
                <a:ea typeface="Lato"/>
                <a:cs typeface="Lato"/>
                <a:sym typeface="Lato"/>
              </a:rPr>
              <a:t>Input:</a:t>
            </a:r>
            <a:r>
              <a:rPr b="0" i="0" lang="en-US" sz="1350" u="none" cap="none" strike="noStrike">
                <a:solidFill>
                  <a:srgbClr val="E2E8F0"/>
                </a:solidFill>
                <a:latin typeface="Lato"/>
                <a:ea typeface="Lato"/>
                <a:cs typeface="Lato"/>
                <a:sym typeface="Lato"/>
              </a:rPr>
              <a:t> "Can you explain convolution?"</a:t>
            </a:r>
            <a:endParaRPr/>
          </a:p>
        </p:txBody>
      </p:sp>
      <p:sp>
        <p:nvSpPr>
          <p:cNvPr id="197" name="Google Shape;197;p18"/>
          <p:cNvSpPr txBox="1"/>
          <p:nvPr/>
        </p:nvSpPr>
        <p:spPr>
          <a:xfrm>
            <a:off x="847725" y="5067300"/>
            <a:ext cx="4819650" cy="257175"/>
          </a:xfrm>
          <a:prstGeom prst="rect">
            <a:avLst/>
          </a:prstGeom>
          <a:noFill/>
          <a:ln>
            <a:noFill/>
          </a:ln>
        </p:spPr>
        <p:txBody>
          <a:bodyPr anchorCtr="0" anchor="t" bIns="0" lIns="247650" spcFirstLastPara="1" rIns="0" wrap="square" tIns="0">
            <a:spAutoFit/>
          </a:bodyPr>
          <a:lstStyle/>
          <a:p>
            <a:pPr indent="0" lvl="0" marL="0" marR="0" rtl="0" algn="l">
              <a:lnSpc>
                <a:spcPct val="150000"/>
              </a:lnSpc>
              <a:spcBef>
                <a:spcPts val="0"/>
              </a:spcBef>
              <a:spcAft>
                <a:spcPts val="0"/>
              </a:spcAft>
              <a:buNone/>
            </a:pPr>
            <a:r>
              <a:rPr b="0" i="0" lang="en-US" sz="1350" u="none" cap="none" strike="noStrike">
                <a:solidFill>
                  <a:srgbClr val="00E5FF"/>
                </a:solidFill>
                <a:latin typeface="Lato"/>
                <a:ea typeface="Lato"/>
                <a:cs typeface="Lato"/>
                <a:sym typeface="Lato"/>
              </a:rPr>
              <a:t>📝 </a:t>
            </a:r>
            <a:r>
              <a:rPr b="1" i="0" lang="en-US" sz="1350" u="none" cap="none" strike="noStrike">
                <a:solidFill>
                  <a:srgbClr val="00E5FF"/>
                </a:solidFill>
                <a:latin typeface="Lato"/>
                <a:ea typeface="Lato"/>
                <a:cs typeface="Lato"/>
                <a:sym typeface="Lato"/>
              </a:rPr>
              <a:t>Output:</a:t>
            </a:r>
            <a:r>
              <a:rPr b="0" i="0" lang="en-US" sz="1350" u="none" cap="none" strike="noStrike">
                <a:solidFill>
                  <a:srgbClr val="00E5FF"/>
                </a:solidFill>
                <a:latin typeface="Lato"/>
                <a:ea typeface="Lato"/>
                <a:cs typeface="Lato"/>
                <a:sym typeface="Lato"/>
              </a:rPr>
              <a:t> "Can you explain convolution?"</a:t>
            </a:r>
            <a:endParaRPr/>
          </a:p>
        </p:txBody>
      </p:sp>
      <p:pic>
        <p:nvPicPr>
          <p:cNvPr descr="image.png" id="198" name="Google Shape;198;p18"/>
          <p:cNvPicPr preferRelativeResize="0"/>
          <p:nvPr/>
        </p:nvPicPr>
        <p:blipFill rotWithShape="1">
          <a:blip r:embed="rId6">
            <a:alphaModFix/>
          </a:blip>
          <a:srcRect b="0" l="0" r="0" t="0"/>
          <a:stretch/>
        </p:blipFill>
        <p:spPr>
          <a:xfrm>
            <a:off x="847725" y="4686300"/>
            <a:ext cx="219075" cy="171450"/>
          </a:xfrm>
          <a:prstGeom prst="rect">
            <a:avLst/>
          </a:prstGeom>
          <a:noFill/>
          <a:ln>
            <a:noFill/>
          </a:ln>
        </p:spPr>
      </p:pic>
      <p:pic>
        <p:nvPicPr>
          <p:cNvPr descr="image.png" id="199" name="Google Shape;199;p18"/>
          <p:cNvPicPr preferRelativeResize="0"/>
          <p:nvPr/>
        </p:nvPicPr>
        <p:blipFill rotWithShape="1">
          <a:blip r:embed="rId7">
            <a:alphaModFix/>
          </a:blip>
          <a:srcRect b="0" l="0" r="0" t="0"/>
          <a:stretch/>
        </p:blipFill>
        <p:spPr>
          <a:xfrm>
            <a:off x="847725" y="5114925"/>
            <a:ext cx="152400" cy="171450"/>
          </a:xfrm>
          <a:prstGeom prst="rect">
            <a:avLst/>
          </a:prstGeom>
          <a:noFill/>
          <a:ln>
            <a:noFill/>
          </a:ln>
        </p:spPr>
      </p:pic>
      <p:pic>
        <p:nvPicPr>
          <p:cNvPr descr="image.png" id="200" name="Google Shape;200;p18"/>
          <p:cNvPicPr preferRelativeResize="0"/>
          <p:nvPr/>
        </p:nvPicPr>
        <p:blipFill rotWithShape="1">
          <a:blip r:embed="rId8">
            <a:alphaModFix/>
          </a:blip>
          <a:srcRect b="0" l="0" r="0" t="0"/>
          <a:stretch/>
        </p:blipFill>
        <p:spPr>
          <a:xfrm>
            <a:off x="571500" y="2262187"/>
            <a:ext cx="161925" cy="219075"/>
          </a:xfrm>
          <a:prstGeom prst="rect">
            <a:avLst/>
          </a:prstGeom>
          <a:noFill/>
          <a:ln>
            <a:noFill/>
          </a:ln>
        </p:spPr>
      </p:pic>
      <p:pic>
        <p:nvPicPr>
          <p:cNvPr descr="image.png" id="201" name="Google Shape;201;p18"/>
          <p:cNvPicPr preferRelativeResize="0"/>
          <p:nvPr/>
        </p:nvPicPr>
        <p:blipFill rotWithShape="1">
          <a:blip r:embed="rId8">
            <a:alphaModFix/>
          </a:blip>
          <a:srcRect b="0" l="0" r="0" t="0"/>
          <a:stretch/>
        </p:blipFill>
        <p:spPr>
          <a:xfrm>
            <a:off x="571500" y="2767012"/>
            <a:ext cx="161925" cy="219075"/>
          </a:xfrm>
          <a:prstGeom prst="rect">
            <a:avLst/>
          </a:prstGeom>
          <a:noFill/>
          <a:ln>
            <a:noFill/>
          </a:ln>
        </p:spPr>
      </p:pic>
      <p:pic>
        <p:nvPicPr>
          <p:cNvPr descr="image.png" id="202" name="Google Shape;202;p18"/>
          <p:cNvPicPr preferRelativeResize="0"/>
          <p:nvPr/>
        </p:nvPicPr>
        <p:blipFill rotWithShape="1">
          <a:blip r:embed="rId8">
            <a:alphaModFix/>
          </a:blip>
          <a:srcRect b="0" l="0" r="0" t="0"/>
          <a:stretch/>
        </p:blipFill>
        <p:spPr>
          <a:xfrm>
            <a:off x="571500" y="3271837"/>
            <a:ext cx="161925" cy="219075"/>
          </a:xfrm>
          <a:prstGeom prst="rect">
            <a:avLst/>
          </a:prstGeom>
          <a:noFill/>
          <a:ln>
            <a:noFill/>
          </a:ln>
        </p:spPr>
      </p:pic>
      <p:pic>
        <p:nvPicPr>
          <p:cNvPr descr="image.png" id="203" name="Google Shape;203;p18"/>
          <p:cNvPicPr preferRelativeResize="0"/>
          <p:nvPr/>
        </p:nvPicPr>
        <p:blipFill rotWithShape="1">
          <a:blip r:embed="rId8">
            <a:alphaModFix/>
          </a:blip>
          <a:srcRect b="0" l="0" r="0" t="0"/>
          <a:stretch/>
        </p:blipFill>
        <p:spPr>
          <a:xfrm>
            <a:off x="571500" y="3776662"/>
            <a:ext cx="161925" cy="219075"/>
          </a:xfrm>
          <a:prstGeom prst="rect">
            <a:avLst/>
          </a:prstGeom>
          <a:noFill/>
          <a:ln>
            <a:noFill/>
          </a:ln>
        </p:spPr>
      </p:pic>
      <p:pic>
        <p:nvPicPr>
          <p:cNvPr id="204" name="Google Shape;204;p18" title="QA 1 .jpeg"/>
          <p:cNvPicPr preferRelativeResize="0"/>
          <p:nvPr/>
        </p:nvPicPr>
        <p:blipFill rotWithShape="1">
          <a:blip r:embed="rId9">
            <a:alphaModFix/>
          </a:blip>
          <a:srcRect b="7613" l="0" r="0" t="0"/>
          <a:stretch/>
        </p:blipFill>
        <p:spPr>
          <a:xfrm>
            <a:off x="6057900" y="1771650"/>
            <a:ext cx="5981700" cy="2652651"/>
          </a:xfrm>
          <a:prstGeom prst="rect">
            <a:avLst/>
          </a:prstGeom>
          <a:noFill/>
          <a:ln>
            <a:noFill/>
          </a:ln>
        </p:spPr>
      </p:pic>
      <p:pic>
        <p:nvPicPr>
          <p:cNvPr id="205" name="Google Shape;205;p18" title="QA2.jpeg"/>
          <p:cNvPicPr preferRelativeResize="0"/>
          <p:nvPr/>
        </p:nvPicPr>
        <p:blipFill>
          <a:blip r:embed="rId10">
            <a:alphaModFix/>
          </a:blip>
          <a:stretch>
            <a:fillRect/>
          </a:stretch>
        </p:blipFill>
        <p:spPr>
          <a:xfrm>
            <a:off x="6057903" y="4407739"/>
            <a:ext cx="5980440" cy="18535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1529"/>
        </a:solidFill>
      </p:bgPr>
    </p:bg>
    <p:spTree>
      <p:nvGrpSpPr>
        <p:cNvPr id="209" name="Shape 209"/>
        <p:cNvGrpSpPr/>
        <p:nvPr/>
      </p:nvGrpSpPr>
      <p:grpSpPr>
        <a:xfrm>
          <a:off x="0" y="0"/>
          <a:ext cx="0" cy="0"/>
          <a:chOff x="0" y="0"/>
          <a:chExt cx="0" cy="0"/>
        </a:xfrm>
      </p:grpSpPr>
      <p:pic>
        <p:nvPicPr>
          <p:cNvPr descr="image.png" id="210" name="Google Shape;210;p19"/>
          <p:cNvPicPr preferRelativeResize="0"/>
          <p:nvPr/>
        </p:nvPicPr>
        <p:blipFill rotWithShape="1">
          <a:blip r:embed="rId3">
            <a:alphaModFix/>
          </a:blip>
          <a:srcRect b="0" l="0" r="0" t="0"/>
          <a:stretch/>
        </p:blipFill>
        <p:spPr>
          <a:xfrm>
            <a:off x="0" y="6381750"/>
            <a:ext cx="12192000" cy="476250"/>
          </a:xfrm>
          <a:prstGeom prst="rect">
            <a:avLst/>
          </a:prstGeom>
          <a:noFill/>
          <a:ln>
            <a:noFill/>
          </a:ln>
        </p:spPr>
      </p:pic>
      <p:pic>
        <p:nvPicPr>
          <p:cNvPr descr="image.png" id="211" name="Google Shape;211;p19"/>
          <p:cNvPicPr preferRelativeResize="0"/>
          <p:nvPr/>
        </p:nvPicPr>
        <p:blipFill rotWithShape="1">
          <a:blip r:embed="rId4">
            <a:alphaModFix/>
          </a:blip>
          <a:srcRect b="0" l="0" r="0" t="0"/>
          <a:stretch/>
        </p:blipFill>
        <p:spPr>
          <a:xfrm>
            <a:off x="571500" y="2595562"/>
            <a:ext cx="5334000" cy="2924175"/>
          </a:xfrm>
          <a:prstGeom prst="rect">
            <a:avLst/>
          </a:prstGeom>
          <a:noFill/>
          <a:ln>
            <a:noFill/>
          </a:ln>
        </p:spPr>
      </p:pic>
      <p:pic>
        <p:nvPicPr>
          <p:cNvPr descr="image.png" id="212" name="Google Shape;212;p19"/>
          <p:cNvPicPr preferRelativeResize="0"/>
          <p:nvPr/>
        </p:nvPicPr>
        <p:blipFill rotWithShape="1">
          <a:blip r:embed="rId5">
            <a:alphaModFix/>
          </a:blip>
          <a:srcRect b="0" l="0" r="0" t="0"/>
          <a:stretch/>
        </p:blipFill>
        <p:spPr>
          <a:xfrm>
            <a:off x="6286500" y="3786187"/>
            <a:ext cx="5334000" cy="1428750"/>
          </a:xfrm>
          <a:prstGeom prst="rect">
            <a:avLst/>
          </a:prstGeom>
          <a:noFill/>
          <a:ln>
            <a:noFill/>
          </a:ln>
        </p:spPr>
      </p:pic>
      <p:pic>
        <p:nvPicPr>
          <p:cNvPr descr="image.png" id="213" name="Google Shape;213;p19"/>
          <p:cNvPicPr preferRelativeResize="0"/>
          <p:nvPr/>
        </p:nvPicPr>
        <p:blipFill rotWithShape="1">
          <a:blip r:embed="rId6">
            <a:alphaModFix/>
          </a:blip>
          <a:srcRect b="0" l="0" r="0" t="0"/>
          <a:stretch/>
        </p:blipFill>
        <p:spPr>
          <a:xfrm>
            <a:off x="0" y="0"/>
            <a:ext cx="12192000" cy="666750"/>
          </a:xfrm>
          <a:prstGeom prst="rect">
            <a:avLst/>
          </a:prstGeom>
          <a:noFill/>
          <a:ln>
            <a:noFill/>
          </a:ln>
        </p:spPr>
      </p:pic>
      <p:sp>
        <p:nvSpPr>
          <p:cNvPr id="214" name="Google Shape;214;p19"/>
          <p:cNvSpPr txBox="1"/>
          <p:nvPr/>
        </p:nvSpPr>
        <p:spPr>
          <a:xfrm>
            <a:off x="571500" y="1624012"/>
            <a:ext cx="11601450" cy="685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u="none" cap="none" strike="noStrike">
                <a:solidFill>
                  <a:srgbClr val="FFFFFF"/>
                </a:solidFill>
                <a:latin typeface="Poppins"/>
                <a:ea typeface="Poppins"/>
                <a:cs typeface="Poppins"/>
                <a:sym typeface="Poppins"/>
              </a:rPr>
              <a:t>Question </a:t>
            </a:r>
            <a:r>
              <a:rPr b="1" i="0" lang="en-US" sz="3600" u="none" cap="none" strike="noStrike">
                <a:solidFill>
                  <a:srgbClr val="00E5FF"/>
                </a:solidFill>
                <a:latin typeface="Poppins"/>
                <a:ea typeface="Poppins"/>
                <a:cs typeface="Poppins"/>
                <a:sym typeface="Poppins"/>
              </a:rPr>
              <a:t>Classification</a:t>
            </a:r>
            <a:endParaRPr/>
          </a:p>
        </p:txBody>
      </p:sp>
      <p:sp>
        <p:nvSpPr>
          <p:cNvPr id="215" name="Google Shape;215;p19"/>
          <p:cNvSpPr txBox="1"/>
          <p:nvPr/>
        </p:nvSpPr>
        <p:spPr>
          <a:xfrm>
            <a:off x="381000" y="6543675"/>
            <a:ext cx="1333500" cy="1619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50" u="none" cap="none" strike="noStrike">
                <a:solidFill>
                  <a:srgbClr val="94A3B8"/>
                </a:solidFill>
                <a:latin typeface="Lato"/>
                <a:ea typeface="Lato"/>
                <a:cs typeface="Lato"/>
                <a:sym typeface="Lato"/>
              </a:rPr>
              <a:t>CSE383 - Final Project</a:t>
            </a:r>
            <a:endParaRPr/>
          </a:p>
        </p:txBody>
      </p:sp>
      <p:sp>
        <p:nvSpPr>
          <p:cNvPr id="216" name="Google Shape;216;p19"/>
          <p:cNvSpPr txBox="1"/>
          <p:nvPr/>
        </p:nvSpPr>
        <p:spPr>
          <a:xfrm>
            <a:off x="11344275" y="6543675"/>
            <a:ext cx="466725" cy="1619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50" u="none" cap="none" strike="noStrike">
                <a:solidFill>
                  <a:srgbClr val="94A3B8"/>
                </a:solidFill>
                <a:latin typeface="Lato"/>
                <a:ea typeface="Lato"/>
                <a:cs typeface="Lato"/>
                <a:sym typeface="Lato"/>
              </a:rPr>
              <a:t>Slide 07</a:t>
            </a:r>
            <a:endParaRPr/>
          </a:p>
        </p:txBody>
      </p:sp>
      <p:sp>
        <p:nvSpPr>
          <p:cNvPr id="217" name="Google Shape;217;p19"/>
          <p:cNvSpPr txBox="1"/>
          <p:nvPr/>
        </p:nvSpPr>
        <p:spPr>
          <a:xfrm>
            <a:off x="962025" y="3176587"/>
            <a:ext cx="4552950" cy="28575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500" u="none" cap="none" strike="noStrike">
                <a:solidFill>
                  <a:srgbClr val="FFFFFF"/>
                </a:solidFill>
                <a:latin typeface="Lato"/>
                <a:ea typeface="Lato"/>
                <a:cs typeface="Lato"/>
                <a:sym typeface="Lato"/>
              </a:rPr>
              <a:t>Processing Pipeline:</a:t>
            </a:r>
            <a:endParaRPr/>
          </a:p>
        </p:txBody>
      </p:sp>
      <p:sp>
        <p:nvSpPr>
          <p:cNvPr id="218" name="Google Shape;218;p19"/>
          <p:cNvSpPr txBox="1"/>
          <p:nvPr/>
        </p:nvSpPr>
        <p:spPr>
          <a:xfrm>
            <a:off x="6286500" y="2595562"/>
            <a:ext cx="5600700" cy="2762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4" u="none" cap="none" strike="noStrike">
                <a:solidFill>
                  <a:srgbClr val="FFFFFF"/>
                </a:solidFill>
                <a:latin typeface="Poppins"/>
                <a:ea typeface="Poppins"/>
                <a:cs typeface="Poppins"/>
                <a:sym typeface="Poppins"/>
              </a:rPr>
              <a:t>Topic Categories:</a:t>
            </a:r>
            <a:endParaRPr/>
          </a:p>
        </p:txBody>
      </p:sp>
      <p:sp>
        <p:nvSpPr>
          <p:cNvPr id="219" name="Google Shape;219;p19"/>
          <p:cNvSpPr txBox="1"/>
          <p:nvPr/>
        </p:nvSpPr>
        <p:spPr>
          <a:xfrm>
            <a:off x="1171575" y="3700462"/>
            <a:ext cx="171450" cy="3143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650" u="none" cap="none" strike="noStrike">
                <a:solidFill>
                  <a:srgbClr val="E2E8F0"/>
                </a:solidFill>
                <a:latin typeface="Lato"/>
                <a:ea typeface="Lato"/>
                <a:cs typeface="Lato"/>
                <a:sym typeface="Lato"/>
              </a:rPr>
              <a:t>1.</a:t>
            </a:r>
            <a:endParaRPr/>
          </a:p>
        </p:txBody>
      </p:sp>
      <p:sp>
        <p:nvSpPr>
          <p:cNvPr id="220" name="Google Shape;220;p19"/>
          <p:cNvSpPr txBox="1"/>
          <p:nvPr/>
        </p:nvSpPr>
        <p:spPr>
          <a:xfrm>
            <a:off x="1343025" y="3700462"/>
            <a:ext cx="4171950" cy="314325"/>
          </a:xfrm>
          <a:prstGeom prst="rect">
            <a:avLst/>
          </a:prstGeom>
          <a:noFill/>
          <a:ln>
            <a:noFill/>
          </a:ln>
        </p:spPr>
        <p:txBody>
          <a:bodyPr anchorCtr="0" anchor="t" bIns="0" lIns="171450" spcFirstLastPara="1" rIns="0" wrap="square" tIns="0">
            <a:spAutoFit/>
          </a:bodyPr>
          <a:lstStyle/>
          <a:p>
            <a:pPr indent="0" lvl="0" marL="0" marR="0" rtl="0" algn="l">
              <a:lnSpc>
                <a:spcPct val="150000"/>
              </a:lnSpc>
              <a:spcBef>
                <a:spcPts val="0"/>
              </a:spcBef>
              <a:spcAft>
                <a:spcPts val="0"/>
              </a:spcAft>
              <a:buNone/>
            </a:pPr>
            <a:r>
              <a:rPr b="0" i="0" lang="en-US" sz="1650" u="none" cap="none" strike="noStrike">
                <a:solidFill>
                  <a:srgbClr val="E2E8F0"/>
                </a:solidFill>
                <a:latin typeface="Lato"/>
                <a:ea typeface="Lato"/>
                <a:cs typeface="Lato"/>
                <a:sym typeface="Lato"/>
              </a:rPr>
              <a:t>Vectorization via </a:t>
            </a:r>
            <a:r>
              <a:rPr b="1" i="0" lang="en-US" sz="1650" u="none" cap="none" strike="noStrike">
                <a:solidFill>
                  <a:srgbClr val="E2E8F0"/>
                </a:solidFill>
                <a:latin typeface="Lato"/>
                <a:ea typeface="Lato"/>
                <a:cs typeface="Lato"/>
                <a:sym typeface="Lato"/>
              </a:rPr>
              <a:t>TF-IDF</a:t>
            </a:r>
            <a:endParaRPr/>
          </a:p>
        </p:txBody>
      </p:sp>
      <p:sp>
        <p:nvSpPr>
          <p:cNvPr id="221" name="Google Shape;221;p19"/>
          <p:cNvSpPr txBox="1"/>
          <p:nvPr/>
        </p:nvSpPr>
        <p:spPr>
          <a:xfrm>
            <a:off x="1171575" y="4014787"/>
            <a:ext cx="171450" cy="3143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650" u="none" cap="none" strike="noStrike">
                <a:solidFill>
                  <a:srgbClr val="E2E8F0"/>
                </a:solidFill>
                <a:latin typeface="Lato"/>
                <a:ea typeface="Lato"/>
                <a:cs typeface="Lato"/>
                <a:sym typeface="Lato"/>
              </a:rPr>
              <a:t>2.</a:t>
            </a:r>
            <a:endParaRPr/>
          </a:p>
        </p:txBody>
      </p:sp>
      <p:sp>
        <p:nvSpPr>
          <p:cNvPr id="222" name="Google Shape;222;p19"/>
          <p:cNvSpPr txBox="1"/>
          <p:nvPr/>
        </p:nvSpPr>
        <p:spPr>
          <a:xfrm>
            <a:off x="1343025" y="4014787"/>
            <a:ext cx="4171950" cy="314325"/>
          </a:xfrm>
          <a:prstGeom prst="rect">
            <a:avLst/>
          </a:prstGeom>
          <a:noFill/>
          <a:ln>
            <a:noFill/>
          </a:ln>
        </p:spPr>
        <p:txBody>
          <a:bodyPr anchorCtr="0" anchor="t" bIns="0" lIns="171450" spcFirstLastPara="1" rIns="0" wrap="square" tIns="0">
            <a:spAutoFit/>
          </a:bodyPr>
          <a:lstStyle/>
          <a:p>
            <a:pPr indent="0" lvl="0" marL="0" marR="0" rtl="0" algn="l">
              <a:lnSpc>
                <a:spcPct val="150000"/>
              </a:lnSpc>
              <a:spcBef>
                <a:spcPts val="0"/>
              </a:spcBef>
              <a:spcAft>
                <a:spcPts val="0"/>
              </a:spcAft>
              <a:buNone/>
            </a:pPr>
            <a:r>
              <a:rPr b="0" i="0" lang="en-US" sz="1650" u="none" cap="none" strike="noStrike">
                <a:solidFill>
                  <a:srgbClr val="E2E8F0"/>
                </a:solidFill>
                <a:latin typeface="Lato"/>
                <a:ea typeface="Lato"/>
                <a:cs typeface="Lato"/>
                <a:sym typeface="Lato"/>
              </a:rPr>
              <a:t>Naive Bayes / Logistic Regression Classifier</a:t>
            </a:r>
            <a:endParaRPr/>
          </a:p>
        </p:txBody>
      </p:sp>
      <p:sp>
        <p:nvSpPr>
          <p:cNvPr id="223" name="Google Shape;223;p19"/>
          <p:cNvSpPr txBox="1"/>
          <p:nvPr/>
        </p:nvSpPr>
        <p:spPr>
          <a:xfrm>
            <a:off x="1171575" y="4329112"/>
            <a:ext cx="171450" cy="3143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650" u="none" cap="none" strike="noStrike">
                <a:solidFill>
                  <a:srgbClr val="E2E8F0"/>
                </a:solidFill>
                <a:latin typeface="Lato"/>
                <a:ea typeface="Lato"/>
                <a:cs typeface="Lato"/>
                <a:sym typeface="Lato"/>
              </a:rPr>
              <a:t>3.</a:t>
            </a:r>
            <a:endParaRPr/>
          </a:p>
        </p:txBody>
      </p:sp>
      <p:sp>
        <p:nvSpPr>
          <p:cNvPr id="224" name="Google Shape;224;p19"/>
          <p:cNvSpPr txBox="1"/>
          <p:nvPr/>
        </p:nvSpPr>
        <p:spPr>
          <a:xfrm>
            <a:off x="1343025" y="4329112"/>
            <a:ext cx="4171950" cy="314325"/>
          </a:xfrm>
          <a:prstGeom prst="rect">
            <a:avLst/>
          </a:prstGeom>
          <a:noFill/>
          <a:ln>
            <a:noFill/>
          </a:ln>
        </p:spPr>
        <p:txBody>
          <a:bodyPr anchorCtr="0" anchor="t" bIns="0" lIns="171450" spcFirstLastPara="1" rIns="0" wrap="square" tIns="0">
            <a:spAutoFit/>
          </a:bodyPr>
          <a:lstStyle/>
          <a:p>
            <a:pPr indent="0" lvl="0" marL="0" marR="0" rtl="0" algn="l">
              <a:lnSpc>
                <a:spcPct val="150000"/>
              </a:lnSpc>
              <a:spcBef>
                <a:spcPts val="0"/>
              </a:spcBef>
              <a:spcAft>
                <a:spcPts val="0"/>
              </a:spcAft>
              <a:buNone/>
            </a:pPr>
            <a:r>
              <a:rPr b="0" i="0" lang="en-US" sz="1650" u="none" cap="none" strike="noStrike">
                <a:solidFill>
                  <a:srgbClr val="E2E8F0"/>
                </a:solidFill>
                <a:latin typeface="Lato"/>
                <a:ea typeface="Lato"/>
                <a:cs typeface="Lato"/>
                <a:sym typeface="Lato"/>
              </a:rPr>
              <a:t>Keyword-rich dataset training</a:t>
            </a:r>
            <a:endParaRPr/>
          </a:p>
        </p:txBody>
      </p:sp>
      <p:sp>
        <p:nvSpPr>
          <p:cNvPr id="225" name="Google Shape;225;p19"/>
          <p:cNvSpPr txBox="1"/>
          <p:nvPr/>
        </p:nvSpPr>
        <p:spPr>
          <a:xfrm>
            <a:off x="1171575" y="4643437"/>
            <a:ext cx="171450" cy="3143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650" u="none" cap="none" strike="noStrike">
                <a:solidFill>
                  <a:srgbClr val="E2E8F0"/>
                </a:solidFill>
                <a:latin typeface="Lato"/>
                <a:ea typeface="Lato"/>
                <a:cs typeface="Lato"/>
                <a:sym typeface="Lato"/>
              </a:rPr>
              <a:t>4.</a:t>
            </a:r>
            <a:endParaRPr/>
          </a:p>
        </p:txBody>
      </p:sp>
      <p:sp>
        <p:nvSpPr>
          <p:cNvPr id="226" name="Google Shape;226;p19"/>
          <p:cNvSpPr txBox="1"/>
          <p:nvPr/>
        </p:nvSpPr>
        <p:spPr>
          <a:xfrm>
            <a:off x="1343025" y="4643437"/>
            <a:ext cx="4171950" cy="314325"/>
          </a:xfrm>
          <a:prstGeom prst="rect">
            <a:avLst/>
          </a:prstGeom>
          <a:noFill/>
          <a:ln>
            <a:noFill/>
          </a:ln>
        </p:spPr>
        <p:txBody>
          <a:bodyPr anchorCtr="0" anchor="t" bIns="0" lIns="171450" spcFirstLastPara="1" rIns="0" wrap="square" tIns="0">
            <a:spAutoFit/>
          </a:bodyPr>
          <a:lstStyle/>
          <a:p>
            <a:pPr indent="0" lvl="0" marL="0" marR="0" rtl="0" algn="l">
              <a:lnSpc>
                <a:spcPct val="150000"/>
              </a:lnSpc>
              <a:spcBef>
                <a:spcPts val="0"/>
              </a:spcBef>
              <a:spcAft>
                <a:spcPts val="0"/>
              </a:spcAft>
              <a:buNone/>
            </a:pPr>
            <a:r>
              <a:rPr b="0" i="0" lang="en-US" sz="1650" u="none" cap="none" strike="noStrike">
                <a:solidFill>
                  <a:srgbClr val="E2E8F0"/>
                </a:solidFill>
                <a:latin typeface="Lato"/>
                <a:ea typeface="Lato"/>
                <a:cs typeface="Lato"/>
                <a:sym typeface="Lato"/>
              </a:rPr>
              <a:t>Multiclass label prediction</a:t>
            </a:r>
            <a:endParaRPr/>
          </a:p>
        </p:txBody>
      </p:sp>
      <p:pic>
        <p:nvPicPr>
          <p:cNvPr descr="image.png" id="227" name="Google Shape;227;p19"/>
          <p:cNvPicPr preferRelativeResize="0"/>
          <p:nvPr/>
        </p:nvPicPr>
        <p:blipFill rotWithShape="1">
          <a:blip r:embed="rId7">
            <a:alphaModFix/>
          </a:blip>
          <a:srcRect b="0" l="0" r="0" t="0"/>
          <a:stretch/>
        </p:blipFill>
        <p:spPr>
          <a:xfrm>
            <a:off x="6286500" y="3109912"/>
            <a:ext cx="666750" cy="295275"/>
          </a:xfrm>
          <a:prstGeom prst="rect">
            <a:avLst/>
          </a:prstGeom>
          <a:noFill/>
          <a:ln>
            <a:noFill/>
          </a:ln>
        </p:spPr>
      </p:pic>
      <p:pic>
        <p:nvPicPr>
          <p:cNvPr descr="image.png" id="228" name="Google Shape;228;p19"/>
          <p:cNvPicPr preferRelativeResize="0"/>
          <p:nvPr/>
        </p:nvPicPr>
        <p:blipFill rotWithShape="1">
          <a:blip r:embed="rId8">
            <a:alphaModFix/>
          </a:blip>
          <a:srcRect b="0" l="0" r="0" t="0"/>
          <a:stretch/>
        </p:blipFill>
        <p:spPr>
          <a:xfrm>
            <a:off x="7048500" y="3109912"/>
            <a:ext cx="1143000" cy="295275"/>
          </a:xfrm>
          <a:prstGeom prst="rect">
            <a:avLst/>
          </a:prstGeom>
          <a:noFill/>
          <a:ln>
            <a:noFill/>
          </a:ln>
        </p:spPr>
      </p:pic>
      <p:pic>
        <p:nvPicPr>
          <p:cNvPr descr="image.png" id="229" name="Google Shape;229;p19"/>
          <p:cNvPicPr preferRelativeResize="0"/>
          <p:nvPr/>
        </p:nvPicPr>
        <p:blipFill rotWithShape="1">
          <a:blip r:embed="rId9">
            <a:alphaModFix/>
          </a:blip>
          <a:srcRect b="0" l="0" r="0" t="0"/>
          <a:stretch/>
        </p:blipFill>
        <p:spPr>
          <a:xfrm>
            <a:off x="8286750" y="3109912"/>
            <a:ext cx="1428750" cy="295275"/>
          </a:xfrm>
          <a:prstGeom prst="rect">
            <a:avLst/>
          </a:prstGeom>
          <a:noFill/>
          <a:ln>
            <a:noFill/>
          </a:ln>
        </p:spPr>
      </p:pic>
      <p:pic>
        <p:nvPicPr>
          <p:cNvPr descr="image.png" id="230" name="Google Shape;230;p19"/>
          <p:cNvPicPr preferRelativeResize="0"/>
          <p:nvPr/>
        </p:nvPicPr>
        <p:blipFill rotWithShape="1">
          <a:blip r:embed="rId10">
            <a:alphaModFix/>
          </a:blip>
          <a:srcRect b="0" l="0" r="0" t="0"/>
          <a:stretch/>
        </p:blipFill>
        <p:spPr>
          <a:xfrm>
            <a:off x="9810750" y="3109912"/>
            <a:ext cx="1200150" cy="295275"/>
          </a:xfrm>
          <a:prstGeom prst="rect">
            <a:avLst/>
          </a:prstGeom>
          <a:noFill/>
          <a:ln>
            <a:noFill/>
          </a:ln>
        </p:spPr>
      </p:pic>
      <p:sp>
        <p:nvSpPr>
          <p:cNvPr id="231" name="Google Shape;231;p19"/>
          <p:cNvSpPr txBox="1"/>
          <p:nvPr/>
        </p:nvSpPr>
        <p:spPr>
          <a:xfrm>
            <a:off x="6486525" y="4157662"/>
            <a:ext cx="4934100" cy="2079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350" u="none" cap="none" strike="noStrike">
                <a:solidFill>
                  <a:srgbClr val="E2E8F0"/>
                </a:solidFill>
                <a:latin typeface="Lato"/>
                <a:ea typeface="Lato"/>
                <a:cs typeface="Lato"/>
                <a:sym typeface="Lato"/>
              </a:rPr>
              <a:t>"What is gradient descent?" →</a:t>
            </a:r>
            <a:r>
              <a:rPr b="0" i="0" lang="en-US" sz="1350" u="none" cap="none" strike="noStrike">
                <a:solidFill>
                  <a:srgbClr val="00E5FF"/>
                </a:solidFill>
                <a:latin typeface="Lato"/>
                <a:ea typeface="Lato"/>
                <a:cs typeface="Lato"/>
                <a:sym typeface="Lato"/>
              </a:rPr>
              <a:t> Data Science</a:t>
            </a:r>
            <a:endParaRPr>
              <a:solidFill>
                <a:srgbClr val="00E5FF"/>
              </a:solidFill>
            </a:endParaRPr>
          </a:p>
        </p:txBody>
      </p:sp>
      <p:sp>
        <p:nvSpPr>
          <p:cNvPr id="232" name="Google Shape;232;p19"/>
          <p:cNvSpPr txBox="1"/>
          <p:nvPr/>
        </p:nvSpPr>
        <p:spPr>
          <a:xfrm>
            <a:off x="6486525" y="4586287"/>
            <a:ext cx="4934100" cy="2079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350" u="none" cap="none" strike="noStrike">
                <a:solidFill>
                  <a:srgbClr val="E2E8F0"/>
                </a:solidFill>
                <a:latin typeface="Lato"/>
                <a:ea typeface="Lato"/>
                <a:cs typeface="Lato"/>
                <a:sym typeface="Lato"/>
              </a:rPr>
              <a:t>"Explain convolution" → </a:t>
            </a:r>
            <a:r>
              <a:rPr b="0" i="0" lang="en-US" sz="1350" u="none" cap="none" strike="noStrike">
                <a:solidFill>
                  <a:srgbClr val="00E5FF"/>
                </a:solidFill>
                <a:latin typeface="Lato"/>
                <a:ea typeface="Lato"/>
                <a:cs typeface="Lato"/>
                <a:sym typeface="Lato"/>
              </a:rPr>
              <a:t>Computer Vision</a:t>
            </a:r>
            <a:endParaRPr>
              <a:solidFill>
                <a:srgbClr val="00E5FF"/>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1529"/>
        </a:solidFill>
      </p:bgPr>
    </p:bg>
    <p:spTree>
      <p:nvGrpSpPr>
        <p:cNvPr id="236" name="Shape 236"/>
        <p:cNvGrpSpPr/>
        <p:nvPr/>
      </p:nvGrpSpPr>
      <p:grpSpPr>
        <a:xfrm>
          <a:off x="0" y="0"/>
          <a:ext cx="0" cy="0"/>
          <a:chOff x="0" y="0"/>
          <a:chExt cx="0" cy="0"/>
        </a:xfrm>
      </p:grpSpPr>
      <p:pic>
        <p:nvPicPr>
          <p:cNvPr descr="image.png" id="237" name="Google Shape;237;p20"/>
          <p:cNvPicPr preferRelativeResize="0"/>
          <p:nvPr/>
        </p:nvPicPr>
        <p:blipFill rotWithShape="1">
          <a:blip r:embed="rId3">
            <a:alphaModFix/>
          </a:blip>
          <a:srcRect b="0" l="0" r="0" t="0"/>
          <a:stretch/>
        </p:blipFill>
        <p:spPr>
          <a:xfrm>
            <a:off x="0" y="6381750"/>
            <a:ext cx="12192000" cy="476250"/>
          </a:xfrm>
          <a:prstGeom prst="rect">
            <a:avLst/>
          </a:prstGeom>
          <a:noFill/>
          <a:ln>
            <a:noFill/>
          </a:ln>
        </p:spPr>
      </p:pic>
      <p:pic>
        <p:nvPicPr>
          <p:cNvPr descr="image.png" id="238" name="Google Shape;238;p20"/>
          <p:cNvPicPr preferRelativeResize="0"/>
          <p:nvPr/>
        </p:nvPicPr>
        <p:blipFill rotWithShape="1">
          <a:blip r:embed="rId4">
            <a:alphaModFix/>
          </a:blip>
          <a:srcRect b="0" l="0" r="0" t="0"/>
          <a:stretch/>
        </p:blipFill>
        <p:spPr>
          <a:xfrm>
            <a:off x="0" y="0"/>
            <a:ext cx="12192000" cy="666750"/>
          </a:xfrm>
          <a:prstGeom prst="rect">
            <a:avLst/>
          </a:prstGeom>
          <a:noFill/>
          <a:ln>
            <a:noFill/>
          </a:ln>
        </p:spPr>
      </p:pic>
      <p:sp>
        <p:nvSpPr>
          <p:cNvPr id="239" name="Google Shape;239;p20"/>
          <p:cNvSpPr txBox="1"/>
          <p:nvPr/>
        </p:nvSpPr>
        <p:spPr>
          <a:xfrm>
            <a:off x="571500" y="1419225"/>
            <a:ext cx="11601450" cy="685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u="none" cap="none" strike="noStrike">
                <a:solidFill>
                  <a:srgbClr val="FFFFFF"/>
                </a:solidFill>
                <a:latin typeface="Poppins"/>
                <a:ea typeface="Poppins"/>
                <a:cs typeface="Poppins"/>
                <a:sym typeface="Poppins"/>
              </a:rPr>
              <a:t>Flask </a:t>
            </a:r>
            <a:r>
              <a:rPr b="1" i="0" lang="en-US" sz="3600" u="none" cap="none" strike="noStrike">
                <a:solidFill>
                  <a:srgbClr val="00E5FF"/>
                </a:solidFill>
                <a:latin typeface="Poppins"/>
                <a:ea typeface="Poppins"/>
                <a:cs typeface="Poppins"/>
                <a:sym typeface="Poppins"/>
              </a:rPr>
              <a:t>Dashboard</a:t>
            </a:r>
            <a:endParaRPr/>
          </a:p>
        </p:txBody>
      </p:sp>
      <p:sp>
        <p:nvSpPr>
          <p:cNvPr id="240" name="Google Shape;240;p20"/>
          <p:cNvSpPr txBox="1"/>
          <p:nvPr/>
        </p:nvSpPr>
        <p:spPr>
          <a:xfrm>
            <a:off x="381000" y="6543675"/>
            <a:ext cx="1333500" cy="1619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50" u="none" cap="none" strike="noStrike">
                <a:solidFill>
                  <a:srgbClr val="94A3B8"/>
                </a:solidFill>
                <a:latin typeface="Lato"/>
                <a:ea typeface="Lato"/>
                <a:cs typeface="Lato"/>
                <a:sym typeface="Lato"/>
              </a:rPr>
              <a:t>CSE383 - Final Project</a:t>
            </a:r>
            <a:endParaRPr/>
          </a:p>
        </p:txBody>
      </p:sp>
      <p:sp>
        <p:nvSpPr>
          <p:cNvPr id="241" name="Google Shape;241;p20"/>
          <p:cNvSpPr txBox="1"/>
          <p:nvPr/>
        </p:nvSpPr>
        <p:spPr>
          <a:xfrm>
            <a:off x="11344275" y="6543675"/>
            <a:ext cx="466725" cy="1619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50" u="none" cap="none" strike="noStrike">
                <a:solidFill>
                  <a:srgbClr val="94A3B8"/>
                </a:solidFill>
                <a:latin typeface="Lato"/>
                <a:ea typeface="Lato"/>
                <a:cs typeface="Lato"/>
                <a:sym typeface="Lato"/>
              </a:rPr>
              <a:t>Slide 08</a:t>
            </a:r>
            <a:endParaRPr/>
          </a:p>
        </p:txBody>
      </p:sp>
      <p:sp>
        <p:nvSpPr>
          <p:cNvPr id="242" name="Google Shape;242;p20"/>
          <p:cNvSpPr txBox="1"/>
          <p:nvPr/>
        </p:nvSpPr>
        <p:spPr>
          <a:xfrm>
            <a:off x="571500" y="2543175"/>
            <a:ext cx="4267200" cy="285750"/>
          </a:xfrm>
          <a:prstGeom prst="rect">
            <a:avLst/>
          </a:prstGeom>
          <a:noFill/>
          <a:ln>
            <a:noFill/>
          </a:ln>
        </p:spPr>
        <p:txBody>
          <a:bodyPr anchorCtr="0" anchor="t" bIns="0" lIns="314325" spcFirstLastPara="1" rIns="0" wrap="square" tIns="0">
            <a:spAutoFit/>
          </a:bodyPr>
          <a:lstStyle/>
          <a:p>
            <a:pPr indent="0" lvl="0" marL="0" marR="0" rtl="0" algn="l">
              <a:lnSpc>
                <a:spcPct val="150000"/>
              </a:lnSpc>
              <a:spcBef>
                <a:spcPts val="0"/>
              </a:spcBef>
              <a:spcAft>
                <a:spcPts val="0"/>
              </a:spcAft>
              <a:buNone/>
            </a:pPr>
            <a:r>
              <a:rPr b="0" i="0" lang="en-US" sz="1500" u="none" cap="none" strike="noStrike">
                <a:solidFill>
                  <a:srgbClr val="E2E8F0"/>
                </a:solidFill>
                <a:latin typeface="Lato"/>
                <a:ea typeface="Lato"/>
                <a:cs typeface="Lato"/>
                <a:sym typeface="Lato"/>
              </a:rPr>
              <a:t>Built with Python Flask Framework</a:t>
            </a:r>
            <a:endParaRPr/>
          </a:p>
        </p:txBody>
      </p:sp>
      <p:sp>
        <p:nvSpPr>
          <p:cNvPr id="243" name="Google Shape;243;p20"/>
          <p:cNvSpPr txBox="1"/>
          <p:nvPr/>
        </p:nvSpPr>
        <p:spPr>
          <a:xfrm>
            <a:off x="571500" y="2971800"/>
            <a:ext cx="4267200" cy="571500"/>
          </a:xfrm>
          <a:prstGeom prst="rect">
            <a:avLst/>
          </a:prstGeom>
          <a:noFill/>
          <a:ln>
            <a:noFill/>
          </a:ln>
        </p:spPr>
        <p:txBody>
          <a:bodyPr anchorCtr="0" anchor="t" bIns="0" lIns="314325" spcFirstLastPara="1" rIns="0" wrap="square" tIns="0">
            <a:spAutoFit/>
          </a:bodyPr>
          <a:lstStyle/>
          <a:p>
            <a:pPr indent="0" lvl="0" marL="0" marR="0" rtl="0" algn="l">
              <a:lnSpc>
                <a:spcPct val="150000"/>
              </a:lnSpc>
              <a:spcBef>
                <a:spcPts val="0"/>
              </a:spcBef>
              <a:spcAft>
                <a:spcPts val="0"/>
              </a:spcAft>
              <a:buNone/>
            </a:pPr>
            <a:r>
              <a:rPr b="0" i="0" lang="en-US" sz="1500" u="none" cap="none" strike="noStrike">
                <a:solidFill>
                  <a:srgbClr val="E2E8F0"/>
                </a:solidFill>
                <a:latin typeface="Lato"/>
                <a:ea typeface="Lato"/>
                <a:cs typeface="Lato"/>
                <a:sym typeface="Lato"/>
              </a:rPr>
              <a:t>Multi-page: Home, Dashboard, Attendance, Q&amp;A</a:t>
            </a:r>
            <a:endParaRPr/>
          </a:p>
        </p:txBody>
      </p:sp>
      <p:sp>
        <p:nvSpPr>
          <p:cNvPr id="244" name="Google Shape;244;p20"/>
          <p:cNvSpPr txBox="1"/>
          <p:nvPr/>
        </p:nvSpPr>
        <p:spPr>
          <a:xfrm>
            <a:off x="571500" y="3686175"/>
            <a:ext cx="4267200" cy="285750"/>
          </a:xfrm>
          <a:prstGeom prst="rect">
            <a:avLst/>
          </a:prstGeom>
          <a:noFill/>
          <a:ln>
            <a:noFill/>
          </a:ln>
        </p:spPr>
        <p:txBody>
          <a:bodyPr anchorCtr="0" anchor="t" bIns="0" lIns="314325" spcFirstLastPara="1" rIns="0" wrap="square" tIns="0">
            <a:spAutoFit/>
          </a:bodyPr>
          <a:lstStyle/>
          <a:p>
            <a:pPr indent="0" lvl="0" marL="0" marR="0" rtl="0" algn="l">
              <a:lnSpc>
                <a:spcPct val="150000"/>
              </a:lnSpc>
              <a:spcBef>
                <a:spcPts val="0"/>
              </a:spcBef>
              <a:spcAft>
                <a:spcPts val="0"/>
              </a:spcAft>
              <a:buNone/>
            </a:pPr>
            <a:r>
              <a:rPr b="0" i="0" lang="en-US" sz="1500" u="none" cap="none" strike="noStrike">
                <a:solidFill>
                  <a:srgbClr val="E2E8F0"/>
                </a:solidFill>
                <a:latin typeface="Lato"/>
                <a:ea typeface="Lato"/>
                <a:cs typeface="Lato"/>
                <a:sym typeface="Lato"/>
              </a:rPr>
              <a:t>Python Threading for async recording</a:t>
            </a:r>
            <a:endParaRPr/>
          </a:p>
        </p:txBody>
      </p:sp>
      <p:sp>
        <p:nvSpPr>
          <p:cNvPr id="245" name="Google Shape;245;p20"/>
          <p:cNvSpPr txBox="1"/>
          <p:nvPr/>
        </p:nvSpPr>
        <p:spPr>
          <a:xfrm>
            <a:off x="571500" y="4114800"/>
            <a:ext cx="4267200" cy="285750"/>
          </a:xfrm>
          <a:prstGeom prst="rect">
            <a:avLst/>
          </a:prstGeom>
          <a:noFill/>
          <a:ln>
            <a:noFill/>
          </a:ln>
        </p:spPr>
        <p:txBody>
          <a:bodyPr anchorCtr="0" anchor="t" bIns="0" lIns="314325" spcFirstLastPara="1" rIns="0" wrap="square" tIns="0">
            <a:spAutoFit/>
          </a:bodyPr>
          <a:lstStyle/>
          <a:p>
            <a:pPr indent="0" lvl="0" marL="0" marR="0" rtl="0" algn="l">
              <a:lnSpc>
                <a:spcPct val="150000"/>
              </a:lnSpc>
              <a:spcBef>
                <a:spcPts val="0"/>
              </a:spcBef>
              <a:spcAft>
                <a:spcPts val="0"/>
              </a:spcAft>
              <a:buNone/>
            </a:pPr>
            <a:r>
              <a:rPr b="0" i="0" lang="en-US" sz="1500" u="none" cap="none" strike="noStrike">
                <a:solidFill>
                  <a:srgbClr val="E2E8F0"/>
                </a:solidFill>
                <a:latin typeface="Lato"/>
                <a:ea typeface="Lato"/>
                <a:cs typeface="Lato"/>
                <a:sym typeface="Lato"/>
              </a:rPr>
              <a:t>REST API endpoints for frontend data</a:t>
            </a:r>
            <a:endParaRPr/>
          </a:p>
        </p:txBody>
      </p:sp>
      <p:pic>
        <p:nvPicPr>
          <p:cNvPr descr="image.png" id="246" name="Google Shape;246;p20"/>
          <p:cNvPicPr preferRelativeResize="0"/>
          <p:nvPr/>
        </p:nvPicPr>
        <p:blipFill rotWithShape="1">
          <a:blip r:embed="rId5">
            <a:alphaModFix/>
          </a:blip>
          <a:srcRect b="0" l="0" r="0" t="0"/>
          <a:stretch/>
        </p:blipFill>
        <p:spPr>
          <a:xfrm>
            <a:off x="571500" y="2595562"/>
            <a:ext cx="171450" cy="200025"/>
          </a:xfrm>
          <a:prstGeom prst="rect">
            <a:avLst/>
          </a:prstGeom>
          <a:noFill/>
          <a:ln>
            <a:noFill/>
          </a:ln>
        </p:spPr>
      </p:pic>
      <p:pic>
        <p:nvPicPr>
          <p:cNvPr descr="image.png" id="247" name="Google Shape;247;p20"/>
          <p:cNvPicPr preferRelativeResize="0"/>
          <p:nvPr/>
        </p:nvPicPr>
        <p:blipFill rotWithShape="1">
          <a:blip r:embed="rId5">
            <a:alphaModFix/>
          </a:blip>
          <a:srcRect b="0" l="0" r="0" t="0"/>
          <a:stretch/>
        </p:blipFill>
        <p:spPr>
          <a:xfrm>
            <a:off x="571500" y="3024187"/>
            <a:ext cx="171450" cy="200025"/>
          </a:xfrm>
          <a:prstGeom prst="rect">
            <a:avLst/>
          </a:prstGeom>
          <a:noFill/>
          <a:ln>
            <a:noFill/>
          </a:ln>
        </p:spPr>
      </p:pic>
      <p:pic>
        <p:nvPicPr>
          <p:cNvPr descr="image.png" id="248" name="Google Shape;248;p20"/>
          <p:cNvPicPr preferRelativeResize="0"/>
          <p:nvPr/>
        </p:nvPicPr>
        <p:blipFill rotWithShape="1">
          <a:blip r:embed="rId5">
            <a:alphaModFix/>
          </a:blip>
          <a:srcRect b="0" l="0" r="0" t="0"/>
          <a:stretch/>
        </p:blipFill>
        <p:spPr>
          <a:xfrm>
            <a:off x="571500" y="3738562"/>
            <a:ext cx="171450" cy="200025"/>
          </a:xfrm>
          <a:prstGeom prst="rect">
            <a:avLst/>
          </a:prstGeom>
          <a:noFill/>
          <a:ln>
            <a:noFill/>
          </a:ln>
        </p:spPr>
      </p:pic>
      <p:pic>
        <p:nvPicPr>
          <p:cNvPr descr="image.png" id="249" name="Google Shape;249;p20"/>
          <p:cNvPicPr preferRelativeResize="0"/>
          <p:nvPr/>
        </p:nvPicPr>
        <p:blipFill rotWithShape="1">
          <a:blip r:embed="rId5">
            <a:alphaModFix/>
          </a:blip>
          <a:srcRect b="0" l="0" r="0" t="0"/>
          <a:stretch/>
        </p:blipFill>
        <p:spPr>
          <a:xfrm>
            <a:off x="571500" y="4167187"/>
            <a:ext cx="171450" cy="200025"/>
          </a:xfrm>
          <a:prstGeom prst="rect">
            <a:avLst/>
          </a:prstGeom>
          <a:noFill/>
          <a:ln>
            <a:noFill/>
          </a:ln>
        </p:spPr>
      </p:pic>
      <p:pic>
        <p:nvPicPr>
          <p:cNvPr id="250" name="Google Shape;250;p20" title="dashboard 1.jpeg"/>
          <p:cNvPicPr preferRelativeResize="0"/>
          <p:nvPr/>
        </p:nvPicPr>
        <p:blipFill rotWithShape="1">
          <a:blip r:embed="rId6">
            <a:alphaModFix/>
          </a:blip>
          <a:srcRect b="24812" l="0" r="1410" t="0"/>
          <a:stretch/>
        </p:blipFill>
        <p:spPr>
          <a:xfrm>
            <a:off x="4976450" y="1730775"/>
            <a:ext cx="6949348" cy="2530549"/>
          </a:xfrm>
          <a:prstGeom prst="rect">
            <a:avLst/>
          </a:prstGeom>
          <a:noFill/>
          <a:ln>
            <a:noFill/>
          </a:ln>
        </p:spPr>
      </p:pic>
      <p:pic>
        <p:nvPicPr>
          <p:cNvPr id="251" name="Google Shape;251;p20" title="dashboard 2.jpeg"/>
          <p:cNvPicPr preferRelativeResize="0"/>
          <p:nvPr/>
        </p:nvPicPr>
        <p:blipFill rotWithShape="1">
          <a:blip r:embed="rId7">
            <a:alphaModFix/>
          </a:blip>
          <a:srcRect b="0" l="0" r="1410" t="31333"/>
          <a:stretch/>
        </p:blipFill>
        <p:spPr>
          <a:xfrm>
            <a:off x="4976450" y="4261350"/>
            <a:ext cx="6949348" cy="1596524"/>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1529"/>
        </a:solidFill>
      </p:bgPr>
    </p:bg>
    <p:spTree>
      <p:nvGrpSpPr>
        <p:cNvPr id="255" name="Shape 255"/>
        <p:cNvGrpSpPr/>
        <p:nvPr/>
      </p:nvGrpSpPr>
      <p:grpSpPr>
        <a:xfrm>
          <a:off x="0" y="0"/>
          <a:ext cx="0" cy="0"/>
          <a:chOff x="0" y="0"/>
          <a:chExt cx="0" cy="0"/>
        </a:xfrm>
      </p:grpSpPr>
      <p:pic>
        <p:nvPicPr>
          <p:cNvPr descr="image.png" id="256" name="Google Shape;256;p21"/>
          <p:cNvPicPr preferRelativeResize="0"/>
          <p:nvPr/>
        </p:nvPicPr>
        <p:blipFill rotWithShape="1">
          <a:blip r:embed="rId3">
            <a:alphaModFix/>
          </a:blip>
          <a:srcRect b="0" l="0" r="0" t="0"/>
          <a:stretch/>
        </p:blipFill>
        <p:spPr>
          <a:xfrm>
            <a:off x="0" y="6381750"/>
            <a:ext cx="12192000" cy="476250"/>
          </a:xfrm>
          <a:prstGeom prst="rect">
            <a:avLst/>
          </a:prstGeom>
          <a:noFill/>
          <a:ln>
            <a:noFill/>
          </a:ln>
        </p:spPr>
      </p:pic>
      <p:pic>
        <p:nvPicPr>
          <p:cNvPr descr="image.png" id="257" name="Google Shape;257;p21"/>
          <p:cNvPicPr preferRelativeResize="0"/>
          <p:nvPr/>
        </p:nvPicPr>
        <p:blipFill rotWithShape="1">
          <a:blip r:embed="rId4">
            <a:alphaModFix/>
          </a:blip>
          <a:srcRect b="0" l="0" r="0" t="0"/>
          <a:stretch/>
        </p:blipFill>
        <p:spPr>
          <a:xfrm>
            <a:off x="571500" y="2614612"/>
            <a:ext cx="5334000" cy="2095500"/>
          </a:xfrm>
          <a:prstGeom prst="rect">
            <a:avLst/>
          </a:prstGeom>
          <a:noFill/>
          <a:ln>
            <a:noFill/>
          </a:ln>
        </p:spPr>
      </p:pic>
      <p:pic>
        <p:nvPicPr>
          <p:cNvPr descr="image.png" id="258" name="Google Shape;258;p21"/>
          <p:cNvPicPr preferRelativeResize="0"/>
          <p:nvPr/>
        </p:nvPicPr>
        <p:blipFill rotWithShape="1">
          <a:blip r:embed="rId5">
            <a:alphaModFix/>
          </a:blip>
          <a:srcRect b="0" l="0" r="0" t="0"/>
          <a:stretch/>
        </p:blipFill>
        <p:spPr>
          <a:xfrm>
            <a:off x="6286500" y="3881437"/>
            <a:ext cx="5334000" cy="714375"/>
          </a:xfrm>
          <a:prstGeom prst="rect">
            <a:avLst/>
          </a:prstGeom>
          <a:noFill/>
          <a:ln>
            <a:noFill/>
          </a:ln>
        </p:spPr>
      </p:pic>
      <p:pic>
        <p:nvPicPr>
          <p:cNvPr descr="image.png" id="259" name="Google Shape;259;p21"/>
          <p:cNvPicPr preferRelativeResize="0"/>
          <p:nvPr/>
        </p:nvPicPr>
        <p:blipFill rotWithShape="1">
          <a:blip r:embed="rId6">
            <a:alphaModFix/>
          </a:blip>
          <a:srcRect b="0" l="0" r="0" t="0"/>
          <a:stretch/>
        </p:blipFill>
        <p:spPr>
          <a:xfrm>
            <a:off x="6286500" y="4786312"/>
            <a:ext cx="5334000" cy="714375"/>
          </a:xfrm>
          <a:prstGeom prst="rect">
            <a:avLst/>
          </a:prstGeom>
          <a:noFill/>
          <a:ln>
            <a:noFill/>
          </a:ln>
        </p:spPr>
      </p:pic>
      <p:pic>
        <p:nvPicPr>
          <p:cNvPr descr="image.png" id="260" name="Google Shape;260;p21"/>
          <p:cNvPicPr preferRelativeResize="0"/>
          <p:nvPr/>
        </p:nvPicPr>
        <p:blipFill rotWithShape="1">
          <a:blip r:embed="rId7">
            <a:alphaModFix/>
          </a:blip>
          <a:srcRect b="0" l="0" r="0" t="0"/>
          <a:stretch/>
        </p:blipFill>
        <p:spPr>
          <a:xfrm>
            <a:off x="0" y="0"/>
            <a:ext cx="12192000" cy="666750"/>
          </a:xfrm>
          <a:prstGeom prst="rect">
            <a:avLst/>
          </a:prstGeom>
          <a:noFill/>
          <a:ln>
            <a:noFill/>
          </a:ln>
        </p:spPr>
      </p:pic>
      <p:sp>
        <p:nvSpPr>
          <p:cNvPr id="261" name="Google Shape;261;p21"/>
          <p:cNvSpPr txBox="1"/>
          <p:nvPr/>
        </p:nvSpPr>
        <p:spPr>
          <a:xfrm>
            <a:off x="571500" y="1643062"/>
            <a:ext cx="11601450" cy="685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u="none" cap="none" strike="noStrike">
                <a:solidFill>
                  <a:srgbClr val="FFFFFF"/>
                </a:solidFill>
                <a:latin typeface="Poppins"/>
                <a:ea typeface="Poppins"/>
                <a:cs typeface="Poppins"/>
                <a:sym typeface="Poppins"/>
              </a:rPr>
              <a:t>Structured </a:t>
            </a:r>
            <a:r>
              <a:rPr b="1" i="0" lang="en-US" sz="3600" u="none" cap="none" strike="noStrike">
                <a:solidFill>
                  <a:srgbClr val="00E5FF"/>
                </a:solidFill>
                <a:latin typeface="Poppins"/>
                <a:ea typeface="Poppins"/>
                <a:cs typeface="Poppins"/>
                <a:sym typeface="Poppins"/>
              </a:rPr>
              <a:t>Logs</a:t>
            </a:r>
            <a:endParaRPr/>
          </a:p>
        </p:txBody>
      </p:sp>
      <p:sp>
        <p:nvSpPr>
          <p:cNvPr id="262" name="Google Shape;262;p21"/>
          <p:cNvSpPr txBox="1"/>
          <p:nvPr/>
        </p:nvSpPr>
        <p:spPr>
          <a:xfrm>
            <a:off x="381000" y="6543675"/>
            <a:ext cx="1333500" cy="1619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50" u="none" cap="none" strike="noStrike">
                <a:solidFill>
                  <a:srgbClr val="94A3B8"/>
                </a:solidFill>
                <a:latin typeface="Lato"/>
                <a:ea typeface="Lato"/>
                <a:cs typeface="Lato"/>
                <a:sym typeface="Lato"/>
              </a:rPr>
              <a:t>CSE383 - Final Project</a:t>
            </a:r>
            <a:endParaRPr/>
          </a:p>
        </p:txBody>
      </p:sp>
      <p:sp>
        <p:nvSpPr>
          <p:cNvPr id="263" name="Google Shape;263;p21"/>
          <p:cNvSpPr txBox="1"/>
          <p:nvPr/>
        </p:nvSpPr>
        <p:spPr>
          <a:xfrm>
            <a:off x="11344275" y="6543675"/>
            <a:ext cx="466725" cy="1619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50" u="none" cap="none" strike="noStrike">
                <a:solidFill>
                  <a:srgbClr val="94A3B8"/>
                </a:solidFill>
                <a:latin typeface="Lato"/>
                <a:ea typeface="Lato"/>
                <a:cs typeface="Lato"/>
                <a:sym typeface="Lato"/>
              </a:rPr>
              <a:t>Slide 09</a:t>
            </a:r>
            <a:endParaRPr/>
          </a:p>
        </p:txBody>
      </p:sp>
      <p:sp>
        <p:nvSpPr>
          <p:cNvPr id="264" name="Google Shape;264;p21"/>
          <p:cNvSpPr txBox="1"/>
          <p:nvPr/>
        </p:nvSpPr>
        <p:spPr>
          <a:xfrm>
            <a:off x="6286500" y="2614612"/>
            <a:ext cx="5600700" cy="2762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4" u="none" cap="none" strike="noStrike">
                <a:solidFill>
                  <a:srgbClr val="00E5FF"/>
                </a:solidFill>
                <a:latin typeface="Poppins"/>
                <a:ea typeface="Poppins"/>
                <a:cs typeface="Poppins"/>
                <a:sym typeface="Poppins"/>
              </a:rPr>
              <a:t>Persistent Storage</a:t>
            </a:r>
            <a:endParaRPr/>
          </a:p>
        </p:txBody>
      </p:sp>
      <p:sp>
        <p:nvSpPr>
          <p:cNvPr id="265" name="Google Shape;265;p21"/>
          <p:cNvSpPr txBox="1"/>
          <p:nvPr/>
        </p:nvSpPr>
        <p:spPr>
          <a:xfrm>
            <a:off x="6286500" y="3081337"/>
            <a:ext cx="5334000" cy="51435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350" u="none" cap="none" strike="noStrike">
                <a:solidFill>
                  <a:srgbClr val="E2E8F0"/>
                </a:solidFill>
                <a:latin typeface="Lato"/>
                <a:ea typeface="Lato"/>
                <a:cs typeface="Lato"/>
                <a:sym typeface="Lato"/>
              </a:rPr>
              <a:t>The system maintains two primary CSV files for historical records and live dashboard updates:</a:t>
            </a:r>
            <a:endParaRPr/>
          </a:p>
        </p:txBody>
      </p:sp>
      <p:sp>
        <p:nvSpPr>
          <p:cNvPr id="266" name="Google Shape;266;p21"/>
          <p:cNvSpPr txBox="1"/>
          <p:nvPr/>
        </p:nvSpPr>
        <p:spPr>
          <a:xfrm>
            <a:off x="6429375" y="4024312"/>
            <a:ext cx="1295400" cy="1809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00" u="none" cap="none" strike="noStrike">
                <a:solidFill>
                  <a:srgbClr val="FFFFFF"/>
                </a:solidFill>
                <a:latin typeface="Lato"/>
                <a:ea typeface="Lato"/>
                <a:cs typeface="Lato"/>
                <a:sym typeface="Lato"/>
              </a:rPr>
              <a:t>attendance_log.csv</a:t>
            </a:r>
            <a:endParaRPr/>
          </a:p>
        </p:txBody>
      </p:sp>
      <p:sp>
        <p:nvSpPr>
          <p:cNvPr id="267" name="Google Shape;267;p21"/>
          <p:cNvSpPr txBox="1"/>
          <p:nvPr/>
        </p:nvSpPr>
        <p:spPr>
          <a:xfrm>
            <a:off x="6429375" y="4252912"/>
            <a:ext cx="5048250" cy="200025"/>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050" u="none" cap="none" strike="noStrike">
                <a:solidFill>
                  <a:srgbClr val="94A3B8"/>
                </a:solidFill>
                <a:latin typeface="Lato"/>
                <a:ea typeface="Lato"/>
                <a:cs typeface="Lato"/>
                <a:sym typeface="Lato"/>
              </a:rPr>
              <a:t>ID, Name, Date, Time, Mood</a:t>
            </a:r>
            <a:endParaRPr/>
          </a:p>
        </p:txBody>
      </p:sp>
      <p:sp>
        <p:nvSpPr>
          <p:cNvPr id="268" name="Google Shape;268;p21"/>
          <p:cNvSpPr txBox="1"/>
          <p:nvPr/>
        </p:nvSpPr>
        <p:spPr>
          <a:xfrm>
            <a:off x="6429375" y="4929187"/>
            <a:ext cx="1181100" cy="1809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00" u="none" cap="none" strike="noStrike">
                <a:solidFill>
                  <a:srgbClr val="FFFFFF"/>
                </a:solidFill>
                <a:latin typeface="Lato"/>
                <a:ea typeface="Lato"/>
                <a:cs typeface="Lato"/>
                <a:sym typeface="Lato"/>
              </a:rPr>
              <a:t>questions_log.csv</a:t>
            </a:r>
            <a:endParaRPr/>
          </a:p>
        </p:txBody>
      </p:sp>
      <p:sp>
        <p:nvSpPr>
          <p:cNvPr id="269" name="Google Shape;269;p21"/>
          <p:cNvSpPr txBox="1"/>
          <p:nvPr/>
        </p:nvSpPr>
        <p:spPr>
          <a:xfrm>
            <a:off x="6429375" y="5157787"/>
            <a:ext cx="5048250" cy="200025"/>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050" u="none" cap="none" strike="noStrike">
                <a:solidFill>
                  <a:srgbClr val="94A3B8"/>
                </a:solidFill>
                <a:latin typeface="Lato"/>
                <a:ea typeface="Lato"/>
                <a:cs typeface="Lato"/>
                <a:sym typeface="Lato"/>
              </a:rPr>
              <a:t>Timestamp, Student, Question, Subject</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1529"/>
        </a:solidFill>
      </p:bgPr>
    </p:bg>
    <p:spTree>
      <p:nvGrpSpPr>
        <p:cNvPr id="273" name="Shape 273"/>
        <p:cNvGrpSpPr/>
        <p:nvPr/>
      </p:nvGrpSpPr>
      <p:grpSpPr>
        <a:xfrm>
          <a:off x="0" y="0"/>
          <a:ext cx="0" cy="0"/>
          <a:chOff x="0" y="0"/>
          <a:chExt cx="0" cy="0"/>
        </a:xfrm>
      </p:grpSpPr>
      <p:pic>
        <p:nvPicPr>
          <p:cNvPr descr="image.png" id="274" name="Google Shape;274;p22"/>
          <p:cNvPicPr preferRelativeResize="0"/>
          <p:nvPr/>
        </p:nvPicPr>
        <p:blipFill rotWithShape="1">
          <a:blip r:embed="rId3">
            <a:alphaModFix/>
          </a:blip>
          <a:srcRect b="0" l="0" r="0" t="0"/>
          <a:stretch/>
        </p:blipFill>
        <p:spPr>
          <a:xfrm>
            <a:off x="0" y="6381750"/>
            <a:ext cx="12192000" cy="476250"/>
          </a:xfrm>
          <a:prstGeom prst="rect">
            <a:avLst/>
          </a:prstGeom>
          <a:noFill/>
          <a:ln>
            <a:noFill/>
          </a:ln>
        </p:spPr>
      </p:pic>
      <p:pic>
        <p:nvPicPr>
          <p:cNvPr descr="image.png" id="275" name="Google Shape;275;p22"/>
          <p:cNvPicPr preferRelativeResize="0"/>
          <p:nvPr/>
        </p:nvPicPr>
        <p:blipFill rotWithShape="1">
          <a:blip r:embed="rId4">
            <a:alphaModFix/>
          </a:blip>
          <a:srcRect b="0" l="0" r="0" t="0"/>
          <a:stretch/>
        </p:blipFill>
        <p:spPr>
          <a:xfrm>
            <a:off x="6286500" y="1971675"/>
            <a:ext cx="2571750" cy="1545580"/>
          </a:xfrm>
          <a:prstGeom prst="rect">
            <a:avLst/>
          </a:prstGeom>
          <a:noFill/>
          <a:ln>
            <a:noFill/>
          </a:ln>
        </p:spPr>
      </p:pic>
      <p:pic>
        <p:nvPicPr>
          <p:cNvPr descr="image.png" id="276" name="Google Shape;276;p22"/>
          <p:cNvPicPr preferRelativeResize="0"/>
          <p:nvPr/>
        </p:nvPicPr>
        <p:blipFill rotWithShape="1">
          <a:blip r:embed="rId5">
            <a:alphaModFix/>
          </a:blip>
          <a:srcRect b="0" l="0" r="0" t="0"/>
          <a:stretch/>
        </p:blipFill>
        <p:spPr>
          <a:xfrm>
            <a:off x="9048750" y="1971675"/>
            <a:ext cx="2571750" cy="1545580"/>
          </a:xfrm>
          <a:prstGeom prst="rect">
            <a:avLst/>
          </a:prstGeom>
          <a:noFill/>
          <a:ln>
            <a:noFill/>
          </a:ln>
        </p:spPr>
      </p:pic>
      <p:pic>
        <p:nvPicPr>
          <p:cNvPr descr="image.png" id="277" name="Google Shape;277;p22"/>
          <p:cNvPicPr preferRelativeResize="0"/>
          <p:nvPr/>
        </p:nvPicPr>
        <p:blipFill rotWithShape="1">
          <a:blip r:embed="rId6">
            <a:alphaModFix/>
          </a:blip>
          <a:srcRect b="0" l="0" r="0" t="0"/>
          <a:stretch/>
        </p:blipFill>
        <p:spPr>
          <a:xfrm>
            <a:off x="6286500" y="3707755"/>
            <a:ext cx="2571750" cy="1316980"/>
          </a:xfrm>
          <a:prstGeom prst="rect">
            <a:avLst/>
          </a:prstGeom>
          <a:noFill/>
          <a:ln>
            <a:noFill/>
          </a:ln>
        </p:spPr>
      </p:pic>
      <p:pic>
        <p:nvPicPr>
          <p:cNvPr descr="image.png" id="278" name="Google Shape;278;p22"/>
          <p:cNvPicPr preferRelativeResize="0"/>
          <p:nvPr/>
        </p:nvPicPr>
        <p:blipFill rotWithShape="1">
          <a:blip r:embed="rId7">
            <a:alphaModFix/>
          </a:blip>
          <a:srcRect b="0" l="0" r="0" t="0"/>
          <a:stretch/>
        </p:blipFill>
        <p:spPr>
          <a:xfrm>
            <a:off x="9048750" y="3707755"/>
            <a:ext cx="2571750" cy="1316980"/>
          </a:xfrm>
          <a:prstGeom prst="rect">
            <a:avLst/>
          </a:prstGeom>
          <a:noFill/>
          <a:ln>
            <a:noFill/>
          </a:ln>
        </p:spPr>
      </p:pic>
      <p:pic>
        <p:nvPicPr>
          <p:cNvPr descr="image.png" id="279" name="Google Shape;279;p22"/>
          <p:cNvPicPr preferRelativeResize="0"/>
          <p:nvPr/>
        </p:nvPicPr>
        <p:blipFill rotWithShape="1">
          <a:blip r:embed="rId8">
            <a:alphaModFix/>
          </a:blip>
          <a:srcRect b="0" l="0" r="0" t="0"/>
          <a:stretch/>
        </p:blipFill>
        <p:spPr>
          <a:xfrm>
            <a:off x="0" y="0"/>
            <a:ext cx="12192000" cy="619125"/>
          </a:xfrm>
          <a:prstGeom prst="rect">
            <a:avLst/>
          </a:prstGeom>
          <a:noFill/>
          <a:ln>
            <a:noFill/>
          </a:ln>
        </p:spPr>
      </p:pic>
      <p:sp>
        <p:nvSpPr>
          <p:cNvPr id="280" name="Google Shape;280;p22"/>
          <p:cNvSpPr txBox="1"/>
          <p:nvPr/>
        </p:nvSpPr>
        <p:spPr>
          <a:xfrm>
            <a:off x="571500" y="1000125"/>
            <a:ext cx="11601450" cy="685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u="none" cap="none" strike="noStrike">
                <a:solidFill>
                  <a:srgbClr val="FFFFFF"/>
                </a:solidFill>
                <a:latin typeface="Poppins"/>
                <a:ea typeface="Poppins"/>
                <a:cs typeface="Poppins"/>
                <a:sym typeface="Poppins"/>
              </a:rPr>
              <a:t>Conclusion &amp; </a:t>
            </a:r>
            <a:r>
              <a:rPr b="1" i="0" lang="en-US" sz="3600" u="none" cap="none" strike="noStrike">
                <a:solidFill>
                  <a:srgbClr val="00E5FF"/>
                </a:solidFill>
                <a:latin typeface="Poppins"/>
                <a:ea typeface="Poppins"/>
                <a:cs typeface="Poppins"/>
                <a:sym typeface="Poppins"/>
              </a:rPr>
              <a:t>Tech Stack</a:t>
            </a:r>
            <a:endParaRPr/>
          </a:p>
        </p:txBody>
      </p:sp>
      <p:sp>
        <p:nvSpPr>
          <p:cNvPr id="281" name="Google Shape;281;p22"/>
          <p:cNvSpPr txBox="1"/>
          <p:nvPr/>
        </p:nvSpPr>
        <p:spPr>
          <a:xfrm>
            <a:off x="381000" y="6543675"/>
            <a:ext cx="1962150" cy="1619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50" u="none" cap="none" strike="noStrike">
                <a:solidFill>
                  <a:srgbClr val="94A3B8"/>
                </a:solidFill>
                <a:latin typeface="Lato"/>
                <a:ea typeface="Lato"/>
                <a:cs typeface="Lato"/>
                <a:sym typeface="Lato"/>
              </a:rPr>
              <a:t>ALAMEIN UNIVERSITY - CSE383</a:t>
            </a:r>
            <a:endParaRPr/>
          </a:p>
        </p:txBody>
      </p:sp>
      <p:sp>
        <p:nvSpPr>
          <p:cNvPr id="282" name="Google Shape;282;p22"/>
          <p:cNvSpPr txBox="1"/>
          <p:nvPr/>
        </p:nvSpPr>
        <p:spPr>
          <a:xfrm>
            <a:off x="11125200" y="6543675"/>
            <a:ext cx="685800" cy="1619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50" u="none" cap="none" strike="noStrike">
                <a:solidFill>
                  <a:srgbClr val="94A3B8"/>
                </a:solidFill>
                <a:latin typeface="Lato"/>
                <a:ea typeface="Lato"/>
                <a:cs typeface="Lato"/>
                <a:sym typeface="Lato"/>
              </a:rPr>
              <a:t>2025–2026</a:t>
            </a:r>
            <a:endParaRPr/>
          </a:p>
        </p:txBody>
      </p:sp>
      <p:sp>
        <p:nvSpPr>
          <p:cNvPr id="283" name="Google Shape;283;p22"/>
          <p:cNvSpPr txBox="1"/>
          <p:nvPr/>
        </p:nvSpPr>
        <p:spPr>
          <a:xfrm>
            <a:off x="847575" y="2374250"/>
            <a:ext cx="5048400" cy="15237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1" lang="en-US" sz="1800" u="none" cap="none" strike="noStrike">
                <a:solidFill>
                  <a:srgbClr val="E2E8F0"/>
                </a:solidFill>
                <a:latin typeface="Lato"/>
                <a:ea typeface="Lato"/>
                <a:cs typeface="Lato"/>
                <a:sym typeface="Lato"/>
              </a:rPr>
              <a:t>"The Smart Classroom Assistant successfully integrates Computer Vision, Speech Recognition, and NLP into one unified web-based system, demonstrating real-world AI application in education."</a:t>
            </a:r>
            <a:endParaRPr/>
          </a:p>
        </p:txBody>
      </p:sp>
      <p:sp>
        <p:nvSpPr>
          <p:cNvPr id="284" name="Google Shape;284;p22"/>
          <p:cNvSpPr/>
          <p:nvPr/>
        </p:nvSpPr>
        <p:spPr>
          <a:xfrm>
            <a:off x="571500" y="2307815"/>
            <a:ext cx="38100" cy="1714500"/>
          </a:xfrm>
          <a:prstGeom prst="rect">
            <a:avLst/>
          </a:prstGeom>
          <a:solidFill>
            <a:srgbClr val="00E5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85" name="Google Shape;285;p22"/>
          <p:cNvSpPr txBox="1"/>
          <p:nvPr/>
        </p:nvSpPr>
        <p:spPr>
          <a:xfrm>
            <a:off x="495300" y="5024725"/>
            <a:ext cx="5600700" cy="57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750" u="none" cap="none" strike="noStrike">
                <a:solidFill>
                  <a:srgbClr val="FFFFFF"/>
                </a:solidFill>
                <a:latin typeface="Poppins"/>
                <a:ea typeface="Poppins"/>
                <a:cs typeface="Poppins"/>
                <a:sym typeface="Poppins"/>
              </a:rPr>
              <a:t>Thank You!</a:t>
            </a:r>
            <a:endParaRPr/>
          </a:p>
        </p:txBody>
      </p:sp>
      <p:sp>
        <p:nvSpPr>
          <p:cNvPr id="286" name="Google Shape;286;p22"/>
          <p:cNvSpPr txBox="1"/>
          <p:nvPr/>
        </p:nvSpPr>
        <p:spPr>
          <a:xfrm>
            <a:off x="6486525" y="2374255"/>
            <a:ext cx="2280285" cy="1809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00" u="none" cap="none" strike="noStrike">
                <a:solidFill>
                  <a:srgbClr val="00E5FF"/>
                </a:solidFill>
                <a:latin typeface="Lato"/>
                <a:ea typeface="Lato"/>
                <a:cs typeface="Lato"/>
                <a:sym typeface="Lato"/>
              </a:rPr>
              <a:t>CV Module</a:t>
            </a:r>
            <a:endParaRPr/>
          </a:p>
        </p:txBody>
      </p:sp>
      <p:sp>
        <p:nvSpPr>
          <p:cNvPr id="287" name="Google Shape;287;p22"/>
          <p:cNvSpPr txBox="1"/>
          <p:nvPr/>
        </p:nvSpPr>
        <p:spPr>
          <a:xfrm>
            <a:off x="6486525" y="2707630"/>
            <a:ext cx="2171700" cy="4572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200" u="none" cap="none" strike="noStrike">
                <a:solidFill>
                  <a:srgbClr val="E2E8F0"/>
                </a:solidFill>
                <a:latin typeface="Lato"/>
                <a:ea typeface="Lato"/>
                <a:cs typeface="Lato"/>
                <a:sym typeface="Lato"/>
              </a:rPr>
              <a:t>OpenCV, face_recognition, fer (CNN)</a:t>
            </a:r>
            <a:endParaRPr/>
          </a:p>
        </p:txBody>
      </p:sp>
      <p:sp>
        <p:nvSpPr>
          <p:cNvPr id="288" name="Google Shape;288;p22"/>
          <p:cNvSpPr txBox="1"/>
          <p:nvPr/>
        </p:nvSpPr>
        <p:spPr>
          <a:xfrm>
            <a:off x="9248775" y="2374255"/>
            <a:ext cx="2280285" cy="1809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00" u="none" cap="none" strike="noStrike">
                <a:solidFill>
                  <a:srgbClr val="00E5FF"/>
                </a:solidFill>
                <a:latin typeface="Lato"/>
                <a:ea typeface="Lato"/>
                <a:cs typeface="Lato"/>
                <a:sym typeface="Lato"/>
              </a:rPr>
              <a:t>Speech</a:t>
            </a:r>
            <a:endParaRPr/>
          </a:p>
        </p:txBody>
      </p:sp>
      <p:sp>
        <p:nvSpPr>
          <p:cNvPr id="289" name="Google Shape;289;p22"/>
          <p:cNvSpPr txBox="1"/>
          <p:nvPr/>
        </p:nvSpPr>
        <p:spPr>
          <a:xfrm>
            <a:off x="9248775" y="2707630"/>
            <a:ext cx="2171700" cy="2286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200" u="none" cap="none" strike="noStrike">
                <a:solidFill>
                  <a:srgbClr val="E2E8F0"/>
                </a:solidFill>
                <a:latin typeface="Lato"/>
                <a:ea typeface="Lato"/>
                <a:cs typeface="Lato"/>
                <a:sym typeface="Lato"/>
              </a:rPr>
              <a:t>SpeechRecognition, Google API</a:t>
            </a:r>
            <a:endParaRPr/>
          </a:p>
        </p:txBody>
      </p:sp>
      <p:sp>
        <p:nvSpPr>
          <p:cNvPr id="290" name="Google Shape;290;p22"/>
          <p:cNvSpPr txBox="1"/>
          <p:nvPr/>
        </p:nvSpPr>
        <p:spPr>
          <a:xfrm>
            <a:off x="6486525" y="4110335"/>
            <a:ext cx="2280285" cy="1809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00" u="none" cap="none" strike="noStrike">
                <a:solidFill>
                  <a:srgbClr val="00E5FF"/>
                </a:solidFill>
                <a:latin typeface="Lato"/>
                <a:ea typeface="Lato"/>
                <a:cs typeface="Lato"/>
                <a:sym typeface="Lato"/>
              </a:rPr>
              <a:t>NLP</a:t>
            </a:r>
            <a:endParaRPr/>
          </a:p>
        </p:txBody>
      </p:sp>
      <p:sp>
        <p:nvSpPr>
          <p:cNvPr id="291" name="Google Shape;291;p22"/>
          <p:cNvSpPr txBox="1"/>
          <p:nvPr/>
        </p:nvSpPr>
        <p:spPr>
          <a:xfrm>
            <a:off x="6486525" y="4443710"/>
            <a:ext cx="2171700" cy="2286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200" u="none" cap="none" strike="noStrike">
                <a:solidFill>
                  <a:srgbClr val="E2E8F0"/>
                </a:solidFill>
                <a:latin typeface="Lato"/>
                <a:ea typeface="Lato"/>
                <a:cs typeface="Lato"/>
                <a:sym typeface="Lato"/>
              </a:rPr>
              <a:t>Scikit-learn, TF-IDF, Naive Bayes</a:t>
            </a:r>
            <a:endParaRPr/>
          </a:p>
        </p:txBody>
      </p:sp>
      <p:sp>
        <p:nvSpPr>
          <p:cNvPr id="292" name="Google Shape;292;p22"/>
          <p:cNvSpPr txBox="1"/>
          <p:nvPr/>
        </p:nvSpPr>
        <p:spPr>
          <a:xfrm>
            <a:off x="9248775" y="4110335"/>
            <a:ext cx="2280285" cy="1809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00" u="none" cap="none" strike="noStrike">
                <a:solidFill>
                  <a:srgbClr val="00E5FF"/>
                </a:solidFill>
                <a:latin typeface="Lato"/>
                <a:ea typeface="Lato"/>
                <a:cs typeface="Lato"/>
                <a:sym typeface="Lato"/>
              </a:rPr>
              <a:t>Web</a:t>
            </a:r>
            <a:endParaRPr/>
          </a:p>
        </p:txBody>
      </p:sp>
      <p:sp>
        <p:nvSpPr>
          <p:cNvPr id="293" name="Google Shape;293;p22"/>
          <p:cNvSpPr txBox="1"/>
          <p:nvPr/>
        </p:nvSpPr>
        <p:spPr>
          <a:xfrm>
            <a:off x="9248775" y="4443710"/>
            <a:ext cx="2171700" cy="2286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200" u="none" cap="none" strike="noStrike">
                <a:solidFill>
                  <a:srgbClr val="E2E8F0"/>
                </a:solidFill>
                <a:latin typeface="Lato"/>
                <a:ea typeface="Lato"/>
                <a:cs typeface="Lato"/>
                <a:sym typeface="Lato"/>
              </a:rPr>
              <a:t>Flask, Threading, CSV Storage</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1529"/>
        </a:solidFill>
      </p:bgPr>
    </p:bg>
    <p:spTree>
      <p:nvGrpSpPr>
        <p:cNvPr id="297" name="Shape 297"/>
        <p:cNvGrpSpPr/>
        <p:nvPr/>
      </p:nvGrpSpPr>
      <p:grpSpPr>
        <a:xfrm>
          <a:off x="0" y="0"/>
          <a:ext cx="0" cy="0"/>
          <a:chOff x="0" y="0"/>
          <a:chExt cx="0" cy="0"/>
        </a:xfrm>
      </p:grpSpPr>
      <p:sp>
        <p:nvSpPr>
          <p:cNvPr id="298" name="Google Shape;298;p23"/>
          <p:cNvSpPr txBox="1"/>
          <p:nvPr/>
        </p:nvSpPr>
        <p:spPr>
          <a:xfrm>
            <a:off x="0" y="0"/>
            <a:ext cx="12192000" cy="685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u="none" cap="none" strike="noStrike">
                <a:solidFill>
                  <a:srgbClr val="FFFFFF"/>
                </a:solidFill>
                <a:latin typeface="Poppins"/>
                <a:ea typeface="Poppins"/>
                <a:cs typeface="Poppins"/>
                <a:sym typeface="Poppins"/>
              </a:rPr>
              <a:t>Image Sources</a:t>
            </a:r>
            <a:endParaRPr/>
          </a:p>
        </p:txBody>
      </p:sp>
      <p:pic>
        <p:nvPicPr>
          <p:cNvPr descr="image.png" id="299" name="Google Shape;299;p23"/>
          <p:cNvPicPr preferRelativeResize="0"/>
          <p:nvPr/>
        </p:nvPicPr>
        <p:blipFill rotWithShape="1">
          <a:blip r:embed="rId3">
            <a:alphaModFix/>
          </a:blip>
          <a:srcRect b="0" l="0" r="0" t="0"/>
          <a:stretch/>
        </p:blipFill>
        <p:spPr>
          <a:xfrm>
            <a:off x="571500" y="3486150"/>
            <a:ext cx="857250" cy="476250"/>
          </a:xfrm>
          <a:prstGeom prst="rect">
            <a:avLst/>
          </a:prstGeom>
          <a:noFill/>
          <a:ln>
            <a:noFill/>
          </a:ln>
        </p:spPr>
      </p:pic>
      <p:sp>
        <p:nvSpPr>
          <p:cNvPr id="300" name="Google Shape;300;p23"/>
          <p:cNvSpPr txBox="1"/>
          <p:nvPr/>
        </p:nvSpPr>
        <p:spPr>
          <a:xfrm>
            <a:off x="1666875" y="3493293"/>
            <a:ext cx="9953625" cy="185737"/>
          </a:xfrm>
          <a:prstGeom prst="rect">
            <a:avLst/>
          </a:prstGeom>
          <a:noFill/>
          <a:ln>
            <a:noFill/>
          </a:ln>
        </p:spPr>
        <p:txBody>
          <a:bodyPr anchorCtr="0" anchor="t" bIns="0" lIns="0" spcFirstLastPara="1" rIns="0" wrap="square" tIns="0">
            <a:spAutoFit/>
          </a:bodyPr>
          <a:lstStyle/>
          <a:p>
            <a:pPr indent="0" lvl="0" marL="0" marR="0" rtl="0" algn="l">
              <a:lnSpc>
                <a:spcPct val="149948"/>
              </a:lnSpc>
              <a:spcBef>
                <a:spcPts val="0"/>
              </a:spcBef>
              <a:spcAft>
                <a:spcPts val="0"/>
              </a:spcAft>
              <a:buNone/>
            </a:pPr>
            <a:r>
              <a:rPr b="0" i="0" lang="en-US" sz="975" u="none" cap="none" strike="noStrike">
                <a:solidFill>
                  <a:srgbClr val="E2E8F0"/>
                </a:solidFill>
                <a:latin typeface="Lato"/>
                <a:ea typeface="Lato"/>
                <a:cs typeface="Lato"/>
                <a:sym typeface="Lato"/>
              </a:rPr>
              <a:t>https://cdn.analyticsvidhya.com/wp-content/uploads/2018/06/ap18138266807030.jpg</a:t>
            </a:r>
            <a:endParaRPr/>
          </a:p>
        </p:txBody>
      </p:sp>
      <p:sp>
        <p:nvSpPr>
          <p:cNvPr id="301" name="Google Shape;301;p23"/>
          <p:cNvSpPr txBox="1"/>
          <p:nvPr/>
        </p:nvSpPr>
        <p:spPr>
          <a:xfrm>
            <a:off x="1666875" y="3726656"/>
            <a:ext cx="9953625" cy="2286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200" u="none" cap="none" strike="noStrike">
                <a:solidFill>
                  <a:srgbClr val="E2E8F0"/>
                </a:solidFill>
                <a:latin typeface="Lato"/>
                <a:ea typeface="Lato"/>
                <a:cs typeface="Lato"/>
                <a:sym typeface="Lato"/>
              </a:rPr>
              <a:t>Source: </a:t>
            </a:r>
            <a:r>
              <a:rPr b="0" i="0" lang="en-US" sz="1200" u="none" cap="none" strike="noStrike">
                <a:solidFill>
                  <a:srgbClr val="4F46E5"/>
                </a:solidFill>
                <a:latin typeface="Lato"/>
                <a:ea typeface="Lato"/>
                <a:cs typeface="Lato"/>
                <a:sym typeface="Lato"/>
              </a:rPr>
              <a:t>www.analyticsvidhya.com</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